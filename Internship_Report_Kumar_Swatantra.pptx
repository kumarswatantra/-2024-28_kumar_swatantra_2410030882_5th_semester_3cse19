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roundRect">
            <a:avLst>
              <a:gd name="adj" fmla="val 8889"/>
            </a:avLst>
          </a:prstGeom>
          <a:solidFill>
            <a:srgbClr val="FFFFFF"/>
          </a:solidFill>
          <a:ln w="12700">
            <a:solidFill>
              <a:srgbClr val="FFFFFF"/>
            </a:solidFill>
            <a:prstDash val="solid"/>
          </a:ln>
          <a:effectLst>
            <a:outerShdw sx="100000" sy="100000" kx="0" ky="0" algn="bl" rotWithShape="0" blurRad="76200" dist="25400" dir="5400000">
              <a:srgbClr val="000000">
                <a:alpha val="25000"/>
              </a:srgbClr>
            </a:outerShdw>
          </a:effectLst>
        </p:spPr>
      </p:sp>
      <p:pic>
        <p:nvPicPr>
          <p:cNvPr id="3" name="Image 0" descr="/home/claude/assets/iilm_logo.png">    </p:cNvPr>
          <p:cNvPicPr>
            <a:picLocks noChangeAspect="1"/>
          </p:cNvPicPr>
          <p:nvPr/>
        </p:nvPicPr>
        <p:blipFill>
          <a:blip r:embed="rId1"/>
          <a:stretch>
            <a:fillRect/>
          </a:stretch>
        </p:blipFill>
        <p:spPr>
          <a:xfrm>
            <a:off x="630936" y="585216"/>
            <a:ext cx="658368" cy="658368"/>
          </a:xfrm>
          <a:prstGeom prst="rect">
            <a:avLst/>
          </a:prstGeom>
        </p:spPr>
      </p:pic>
      <p:sp>
        <p:nvSpPr>
          <p:cNvPr id="4" name="Text 1"/>
          <p:cNvSpPr txBox="1"/>
          <p:nvPr/>
        </p:nvSpPr>
        <p:spPr>
          <a:xfrm>
            <a:off x="548640" y="2331720"/>
            <a:ext cx="11064240" cy="320040"/>
          </a:xfrm>
          <a:prstGeom prst="rect">
            <a:avLst/>
          </a:prstGeom>
          <a:noFill/>
          <a:ln/>
        </p:spPr>
        <p:txBody>
          <a:bodyPr wrap="square" lIns="0" tIns="0" rIns="0" bIns="0" rtlCol="0" anchor="ctr"/>
          <a:lstStyle/>
          <a:p>
            <a:pPr indent="0" marL="0">
              <a:buNone/>
            </a:pPr>
            <a:r>
              <a:rPr lang="en-US" sz="1300" b="1" spc="200" kern="0" dirty="0">
                <a:solidFill>
                  <a:srgbClr val="0EA5B7"/>
                </a:solidFill>
                <a:latin typeface="Calibri" pitchFamily="34" charset="0"/>
                <a:ea typeface="Calibri" pitchFamily="34" charset="-122"/>
                <a:cs typeface="Calibri" pitchFamily="34" charset="-120"/>
              </a:rPr>
              <a:t>SCHOOL OF COMPUTER SCIENCE AND ENGINEERING</a:t>
            </a:r>
            <a:endParaRPr lang="en-US" sz="1300" dirty="0"/>
          </a:p>
        </p:txBody>
      </p:sp>
      <p:sp>
        <p:nvSpPr>
          <p:cNvPr id="5" name="Text 2"/>
          <p:cNvSpPr txBox="1"/>
          <p:nvPr/>
        </p:nvSpPr>
        <p:spPr>
          <a:xfrm>
            <a:off x="548640" y="2651760"/>
            <a:ext cx="1106424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Internship Report</a:t>
            </a:r>
            <a:endParaRPr lang="en-US" sz="4600" dirty="0"/>
          </a:p>
        </p:txBody>
      </p:sp>
      <p:sp>
        <p:nvSpPr>
          <p:cNvPr id="6" name="Text 3"/>
          <p:cNvSpPr txBox="1"/>
          <p:nvPr/>
        </p:nvSpPr>
        <p:spPr>
          <a:xfrm>
            <a:off x="548640" y="3520440"/>
            <a:ext cx="11064240" cy="548640"/>
          </a:xfrm>
          <a:prstGeom prst="rect">
            <a:avLst/>
          </a:prstGeom>
          <a:noFill/>
          <a:ln/>
        </p:spPr>
        <p:txBody>
          <a:bodyPr wrap="square" lIns="0" tIns="0" rIns="0" bIns="0" rtlCol="0" anchor="ctr"/>
          <a:lstStyle/>
          <a:p>
            <a:pPr indent="0" marL="0">
              <a:buNone/>
            </a:pPr>
            <a:r>
              <a:rPr lang="en-US" sz="2200" i="1" dirty="0">
                <a:solidFill>
                  <a:srgbClr val="CFE3EA"/>
                </a:solidFill>
                <a:latin typeface="Calibri" pitchFamily="34" charset="0"/>
                <a:ea typeface="Calibri" pitchFamily="34" charset="-122"/>
                <a:cs typeface="Calibri" pitchFamily="34" charset="-120"/>
              </a:rPr>
              <a:t>Junior ReactJS Developer at YuvaIntern</a:t>
            </a:r>
            <a:endParaRPr lang="en-US" sz="2200" dirty="0"/>
          </a:p>
        </p:txBody>
      </p:sp>
      <p:sp>
        <p:nvSpPr>
          <p:cNvPr id="7" name="Shape 4"/>
          <p:cNvSpPr/>
          <p:nvPr/>
        </p:nvSpPr>
        <p:spPr>
          <a:xfrm>
            <a:off x="548640" y="4251960"/>
            <a:ext cx="2926080" cy="0"/>
          </a:xfrm>
          <a:prstGeom prst="line">
            <a:avLst/>
          </a:prstGeom>
          <a:noFill/>
          <a:ln w="25400">
            <a:solidFill>
              <a:srgbClr val="0EA5B7"/>
            </a:solidFill>
            <a:prstDash val="solid"/>
          </a:ln>
        </p:spPr>
      </p:sp>
      <p:sp>
        <p:nvSpPr>
          <p:cNvPr id="8" name="Text 5"/>
          <p:cNvSpPr txBox="1"/>
          <p:nvPr/>
        </p:nvSpPr>
        <p:spPr>
          <a:xfrm>
            <a:off x="548640" y="4434840"/>
            <a:ext cx="11064240" cy="365760"/>
          </a:xfrm>
          <a:prstGeom prst="rect">
            <a:avLst/>
          </a:prstGeom>
          <a:noFill/>
          <a:ln/>
        </p:spPr>
        <p:txBody>
          <a:bodyPr wrap="square" lIns="0" tIns="0" rIns="0" bIns="0" rtlCol="0" anchor="ctr"/>
          <a:lstStyle/>
          <a:p>
            <a:pPr indent="0" marL="0">
              <a:buNone/>
            </a:pPr>
            <a:r>
              <a:rPr lang="en-US" sz="1300" dirty="0">
                <a:solidFill>
                  <a:srgbClr val="AAB8CC"/>
                </a:solidFill>
                <a:latin typeface="Calibri" pitchFamily="34" charset="0"/>
                <a:ea typeface="Calibri" pitchFamily="34" charset="-122"/>
                <a:cs typeface="Calibri" pitchFamily="34" charset="-120"/>
              </a:rPr>
              <a:t>IILM University, Greater Noida, U.P.  |  In partial fulfilment of the requirement of the degree of B.Tech CSE</a:t>
            </a:r>
            <a:endParaRPr lang="en-US" sz="1300" dirty="0"/>
          </a:p>
        </p:txBody>
      </p:sp>
      <p:sp>
        <p:nvSpPr>
          <p:cNvPr id="9" name="Shape 6"/>
          <p:cNvSpPr/>
          <p:nvPr/>
        </p:nvSpPr>
        <p:spPr>
          <a:xfrm>
            <a:off x="548640" y="5257800"/>
            <a:ext cx="11091672" cy="1051560"/>
          </a:xfrm>
          <a:prstGeom prst="roundRect">
            <a:avLst>
              <a:gd name="adj" fmla="val 5217"/>
            </a:avLst>
          </a:prstGeom>
          <a:solidFill>
            <a:srgbClr val="1C3357"/>
          </a:solidFill>
          <a:ln w="12700">
            <a:solidFill>
              <a:srgbClr val="1C3357"/>
            </a:solidFill>
            <a:prstDash val="solid"/>
          </a:ln>
        </p:spPr>
      </p:sp>
      <p:sp>
        <p:nvSpPr>
          <p:cNvPr id="10" name="Text 7"/>
          <p:cNvSpPr txBox="1"/>
          <p:nvPr/>
        </p:nvSpPr>
        <p:spPr>
          <a:xfrm>
            <a:off x="822960" y="5440680"/>
            <a:ext cx="2498598" cy="274320"/>
          </a:xfrm>
          <a:prstGeom prst="rect">
            <a:avLst/>
          </a:prstGeom>
          <a:noFill/>
          <a:ln/>
        </p:spPr>
        <p:txBody>
          <a:bodyPr wrap="square" lIns="0" tIns="0" rIns="0" bIns="0" rtlCol="0" anchor="ctr"/>
          <a:lstStyle/>
          <a:p>
            <a:pPr indent="0" marL="0">
              <a:buNone/>
            </a:pPr>
            <a:r>
              <a:rPr lang="en-US" sz="1000" b="1" spc="100" kern="0" dirty="0">
                <a:solidFill>
                  <a:srgbClr val="0EA5B7"/>
                </a:solidFill>
                <a:latin typeface="Calibri" pitchFamily="34" charset="0"/>
                <a:ea typeface="Calibri" pitchFamily="34" charset="-122"/>
                <a:cs typeface="Calibri" pitchFamily="34" charset="-120"/>
              </a:rPr>
              <a:t>SUBMITTED BY</a:t>
            </a:r>
            <a:endParaRPr lang="en-US" sz="1000" dirty="0"/>
          </a:p>
        </p:txBody>
      </p:sp>
      <p:sp>
        <p:nvSpPr>
          <p:cNvPr id="11" name="Text 8"/>
          <p:cNvSpPr txBox="1"/>
          <p:nvPr/>
        </p:nvSpPr>
        <p:spPr>
          <a:xfrm>
            <a:off x="822960" y="5715000"/>
            <a:ext cx="2498598"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Kumar Swatantra</a:t>
            </a:r>
            <a:endParaRPr lang="en-US" sz="1500" dirty="0"/>
          </a:p>
        </p:txBody>
      </p:sp>
      <p:sp>
        <p:nvSpPr>
          <p:cNvPr id="12" name="Text 9"/>
          <p:cNvSpPr txBox="1"/>
          <p:nvPr/>
        </p:nvSpPr>
        <p:spPr>
          <a:xfrm>
            <a:off x="3595878" y="5440680"/>
            <a:ext cx="2498598" cy="274320"/>
          </a:xfrm>
          <a:prstGeom prst="rect">
            <a:avLst/>
          </a:prstGeom>
          <a:noFill/>
          <a:ln/>
        </p:spPr>
        <p:txBody>
          <a:bodyPr wrap="square" lIns="0" tIns="0" rIns="0" bIns="0" rtlCol="0" anchor="ctr"/>
          <a:lstStyle/>
          <a:p>
            <a:pPr indent="0" marL="0">
              <a:buNone/>
            </a:pPr>
            <a:r>
              <a:rPr lang="en-US" sz="1000" b="1" spc="100" kern="0" dirty="0">
                <a:solidFill>
                  <a:srgbClr val="0EA5B7"/>
                </a:solidFill>
                <a:latin typeface="Calibri" pitchFamily="34" charset="0"/>
                <a:ea typeface="Calibri" pitchFamily="34" charset="-122"/>
                <a:cs typeface="Calibri" pitchFamily="34" charset="-120"/>
              </a:rPr>
              <a:t>ROLL NUMBER</a:t>
            </a:r>
            <a:endParaRPr lang="en-US" sz="1000" dirty="0"/>
          </a:p>
        </p:txBody>
      </p:sp>
      <p:sp>
        <p:nvSpPr>
          <p:cNvPr id="13" name="Text 10"/>
          <p:cNvSpPr txBox="1"/>
          <p:nvPr/>
        </p:nvSpPr>
        <p:spPr>
          <a:xfrm>
            <a:off x="3595878" y="5715000"/>
            <a:ext cx="2498598"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2410030882</a:t>
            </a:r>
            <a:endParaRPr lang="en-US" sz="1500" dirty="0"/>
          </a:p>
        </p:txBody>
      </p:sp>
      <p:sp>
        <p:nvSpPr>
          <p:cNvPr id="14" name="Text 11"/>
          <p:cNvSpPr txBox="1"/>
          <p:nvPr/>
        </p:nvSpPr>
        <p:spPr>
          <a:xfrm>
            <a:off x="6368796" y="5440680"/>
            <a:ext cx="2498598" cy="274320"/>
          </a:xfrm>
          <a:prstGeom prst="rect">
            <a:avLst/>
          </a:prstGeom>
          <a:noFill/>
          <a:ln/>
        </p:spPr>
        <p:txBody>
          <a:bodyPr wrap="square" lIns="0" tIns="0" rIns="0" bIns="0" rtlCol="0" anchor="ctr"/>
          <a:lstStyle/>
          <a:p>
            <a:pPr indent="0" marL="0">
              <a:buNone/>
            </a:pPr>
            <a:r>
              <a:rPr lang="en-US" sz="1000" b="1" spc="100" kern="0" dirty="0">
                <a:solidFill>
                  <a:srgbClr val="0EA5B7"/>
                </a:solidFill>
                <a:latin typeface="Calibri" pitchFamily="34" charset="0"/>
                <a:ea typeface="Calibri" pitchFamily="34" charset="-122"/>
                <a:cs typeface="Calibri" pitchFamily="34" charset="-120"/>
              </a:rPr>
              <a:t>PROGRAMME</a:t>
            </a:r>
            <a:endParaRPr lang="en-US" sz="1000" dirty="0"/>
          </a:p>
        </p:txBody>
      </p:sp>
      <p:sp>
        <p:nvSpPr>
          <p:cNvPr id="15" name="Text 12"/>
          <p:cNvSpPr txBox="1"/>
          <p:nvPr/>
        </p:nvSpPr>
        <p:spPr>
          <a:xfrm>
            <a:off x="6368796" y="5715000"/>
            <a:ext cx="2498598"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B.Tech CSE</a:t>
            </a:r>
            <a:endParaRPr lang="en-US" sz="1500" dirty="0"/>
          </a:p>
        </p:txBody>
      </p:sp>
      <p:sp>
        <p:nvSpPr>
          <p:cNvPr id="16" name="Text 13"/>
          <p:cNvSpPr txBox="1"/>
          <p:nvPr/>
        </p:nvSpPr>
        <p:spPr>
          <a:xfrm>
            <a:off x="9141714" y="5440680"/>
            <a:ext cx="2498598" cy="274320"/>
          </a:xfrm>
          <a:prstGeom prst="rect">
            <a:avLst/>
          </a:prstGeom>
          <a:noFill/>
          <a:ln/>
        </p:spPr>
        <p:txBody>
          <a:bodyPr wrap="square" lIns="0" tIns="0" rIns="0" bIns="0" rtlCol="0" anchor="ctr"/>
          <a:lstStyle/>
          <a:p>
            <a:pPr indent="0" marL="0">
              <a:buNone/>
            </a:pPr>
            <a:r>
              <a:rPr lang="en-US" sz="1000" b="1" spc="100" kern="0" dirty="0">
                <a:solidFill>
                  <a:srgbClr val="0EA5B7"/>
                </a:solidFill>
                <a:latin typeface="Calibri" pitchFamily="34" charset="0"/>
                <a:ea typeface="Calibri" pitchFamily="34" charset="-122"/>
                <a:cs typeface="Calibri" pitchFamily="34" charset="-120"/>
              </a:rPr>
              <a:t>BATCH</a:t>
            </a:r>
            <a:endParaRPr lang="en-US" sz="1000" dirty="0"/>
          </a:p>
        </p:txBody>
      </p:sp>
      <p:sp>
        <p:nvSpPr>
          <p:cNvPr id="17" name="Text 14"/>
          <p:cNvSpPr txBox="1"/>
          <p:nvPr/>
        </p:nvSpPr>
        <p:spPr>
          <a:xfrm>
            <a:off x="9141714" y="5715000"/>
            <a:ext cx="2498598"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2026–27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320040"/>
          </a:xfrm>
          <a:prstGeom prst="rect">
            <a:avLst/>
          </a:prstGeom>
          <a:noFill/>
          <a:ln/>
        </p:spPr>
        <p:txBody>
          <a:bodyPr wrap="square" lIns="0" tIns="0" rIns="0" bIns="0" rtlCol="0" anchor="ctr"/>
          <a:lstStyle/>
          <a:p>
            <a:pPr indent="0" marL="0">
              <a:buNone/>
            </a:pPr>
            <a:r>
              <a:rPr lang="en-US" sz="1200" b="1" spc="200" kern="0" dirty="0">
                <a:solidFill>
                  <a:srgbClr val="7A1B2E"/>
                </a:solidFill>
                <a:latin typeface="Calibri" pitchFamily="34" charset="0"/>
                <a:ea typeface="Calibri" pitchFamily="34" charset="-122"/>
                <a:cs typeface="Calibri" pitchFamily="34" charset="-120"/>
              </a:rPr>
              <a:t>PRELIMINARY</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Candidate's Declaration &amp; Acknowledgement</a:t>
            </a:r>
            <a:endParaRPr lang="en-US" sz="3000" dirty="0"/>
          </a:p>
        </p:txBody>
      </p:sp>
      <p:sp>
        <p:nvSpPr>
          <p:cNvPr id="4" name="Shape 2"/>
          <p:cNvSpPr/>
          <p:nvPr/>
        </p:nvSpPr>
        <p:spPr>
          <a:xfrm>
            <a:off x="548640" y="1508760"/>
            <a:ext cx="5349240" cy="4709160"/>
          </a:xfrm>
          <a:prstGeom prst="roundRect">
            <a:avLst>
              <a:gd name="adj" fmla="val 1553"/>
            </a:avLst>
          </a:prstGeom>
          <a:solidFill>
            <a:srgbClr val="FFFFFF"/>
          </a:solidFill>
          <a:ln w="12700">
            <a:solidFill>
              <a:srgbClr val="DCE3EC"/>
            </a:solidFill>
            <a:prstDash val="solid"/>
          </a:ln>
          <a:effectLst>
            <a:outerShdw sx="100000" sy="100000" kx="0" ky="0" algn="bl" rotWithShape="0" blurRad="101600" dist="25400" dir="5400000">
              <a:srgbClr val="8AA0BE">
                <a:alpha val="25000"/>
              </a:srgbClr>
            </a:outerShdw>
          </a:effectLst>
        </p:spPr>
      </p:sp>
      <p:sp>
        <p:nvSpPr>
          <p:cNvPr id="5" name="Shape 3"/>
          <p:cNvSpPr/>
          <p:nvPr/>
        </p:nvSpPr>
        <p:spPr>
          <a:xfrm>
            <a:off x="868680" y="1828800"/>
            <a:ext cx="457200" cy="457200"/>
          </a:xfrm>
          <a:prstGeom prst="roundRect">
            <a:avLst>
              <a:gd name="adj" fmla="val 50000"/>
            </a:avLst>
          </a:prstGeom>
          <a:solidFill>
            <a:srgbClr val="0EA5B7"/>
          </a:solidFill>
          <a:ln w="12700">
            <a:solidFill>
              <a:srgbClr val="0EA5B7"/>
            </a:solidFill>
            <a:prstDash val="solid"/>
          </a:ln>
        </p:spPr>
      </p:sp>
      <p:sp>
        <p:nvSpPr>
          <p:cNvPr id="6" name="Text 4"/>
          <p:cNvSpPr txBox="1"/>
          <p:nvPr/>
        </p:nvSpPr>
        <p:spPr>
          <a:xfrm>
            <a:off x="868680" y="2423160"/>
            <a:ext cx="4709160" cy="411480"/>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Candidate's Declaration</a:t>
            </a:r>
            <a:endParaRPr lang="en-US" sz="1900" dirty="0"/>
          </a:p>
        </p:txBody>
      </p:sp>
      <p:sp>
        <p:nvSpPr>
          <p:cNvPr id="7" name="Text 5"/>
          <p:cNvSpPr txBox="1"/>
          <p:nvPr/>
        </p:nvSpPr>
        <p:spPr>
          <a:xfrm>
            <a:off x="868680" y="2926080"/>
            <a:ext cx="4709160" cy="2743200"/>
          </a:xfrm>
          <a:prstGeom prst="rect">
            <a:avLst/>
          </a:prstGeom>
          <a:noFill/>
          <a:ln/>
        </p:spPr>
        <p:txBody>
          <a:bodyPr wrap="square" lIns="0" tIns="0" rIns="0" bIns="0" rtlCol="0" anchor="ctr"/>
          <a:lstStyle/>
          <a:p>
            <a:pPr indent="0" marL="0">
              <a:lnSpc>
                <a:spcPct val="125000"/>
              </a:lnSpc>
              <a:buNone/>
            </a:pPr>
            <a:r>
              <a:rPr lang="en-US" sz="1300" dirty="0">
                <a:solidFill>
                  <a:srgbClr val="5B6472"/>
                </a:solidFill>
                <a:latin typeface="Calibri" pitchFamily="34" charset="0"/>
                <a:ea typeface="Calibri" pitchFamily="34" charset="-122"/>
                <a:cs typeface="Calibri" pitchFamily="34" charset="-120"/>
              </a:rPr>
              <a:t>I, Kumar Swatantra, declare that this internship report, “Internship as Junior ReactJS Developer at YuvaIntern,” has been completed by me for the award of the degree of Bachelor of Technology in CSE. All references have been duly acknowledged, and the report has not been submitted elsewhere for any other degree or diploma.</a:t>
            </a:r>
            <a:endParaRPr lang="en-US" sz="1300" dirty="0"/>
          </a:p>
        </p:txBody>
      </p:sp>
      <p:sp>
        <p:nvSpPr>
          <p:cNvPr id="8" name="Shape 6"/>
          <p:cNvSpPr/>
          <p:nvPr/>
        </p:nvSpPr>
        <p:spPr>
          <a:xfrm>
            <a:off x="868680" y="5394960"/>
            <a:ext cx="4709160" cy="0"/>
          </a:xfrm>
          <a:prstGeom prst="line">
            <a:avLst/>
          </a:prstGeom>
          <a:noFill/>
          <a:ln w="12700">
            <a:solidFill>
              <a:srgbClr val="DCE3EC"/>
            </a:solidFill>
            <a:prstDash val="solid"/>
          </a:ln>
        </p:spPr>
      </p:sp>
      <p:sp>
        <p:nvSpPr>
          <p:cNvPr id="9" name="Text 7"/>
          <p:cNvSpPr txBox="1"/>
          <p:nvPr/>
        </p:nvSpPr>
        <p:spPr>
          <a:xfrm>
            <a:off x="868680" y="5532120"/>
            <a:ext cx="4709160" cy="548640"/>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Kumar Swatantra  |  Roll No. 2410030882</a:t>
            </a:r>
            <a:endParaRPr lang="en-US" sz="1100" dirty="0"/>
          </a:p>
        </p:txBody>
      </p:sp>
      <p:sp>
        <p:nvSpPr>
          <p:cNvPr id="10" name="Shape 8"/>
          <p:cNvSpPr/>
          <p:nvPr/>
        </p:nvSpPr>
        <p:spPr>
          <a:xfrm>
            <a:off x="6263640" y="1508760"/>
            <a:ext cx="5349240" cy="4709160"/>
          </a:xfrm>
          <a:prstGeom prst="roundRect">
            <a:avLst>
              <a:gd name="adj" fmla="val 1553"/>
            </a:avLst>
          </a:prstGeom>
          <a:solidFill>
            <a:srgbClr val="FFFFFF"/>
          </a:solidFill>
          <a:ln w="12700">
            <a:solidFill>
              <a:srgbClr val="DCE3EC"/>
            </a:solidFill>
            <a:prstDash val="solid"/>
          </a:ln>
          <a:effectLst>
            <a:outerShdw sx="100000" sy="100000" kx="0" ky="0" algn="bl" rotWithShape="0" blurRad="101600" dist="25400" dir="5400000">
              <a:srgbClr val="8AA0BE">
                <a:alpha val="25000"/>
              </a:srgbClr>
            </a:outerShdw>
          </a:effectLst>
        </p:spPr>
      </p:sp>
      <p:sp>
        <p:nvSpPr>
          <p:cNvPr id="11" name="Shape 9"/>
          <p:cNvSpPr/>
          <p:nvPr/>
        </p:nvSpPr>
        <p:spPr>
          <a:xfrm>
            <a:off x="6583680" y="1828800"/>
            <a:ext cx="457200" cy="457200"/>
          </a:xfrm>
          <a:prstGeom prst="roundRect">
            <a:avLst>
              <a:gd name="adj" fmla="val 50000"/>
            </a:avLst>
          </a:prstGeom>
          <a:solidFill>
            <a:srgbClr val="0EA5B7"/>
          </a:solidFill>
          <a:ln w="12700">
            <a:solidFill>
              <a:srgbClr val="0EA5B7"/>
            </a:solidFill>
            <a:prstDash val="solid"/>
          </a:ln>
        </p:spPr>
      </p:sp>
      <p:sp>
        <p:nvSpPr>
          <p:cNvPr id="12" name="Text 10"/>
          <p:cNvSpPr txBox="1"/>
          <p:nvPr/>
        </p:nvSpPr>
        <p:spPr>
          <a:xfrm>
            <a:off x="6583680" y="2423160"/>
            <a:ext cx="4709160" cy="411480"/>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Acknowledgement</a:t>
            </a:r>
            <a:endParaRPr lang="en-US" sz="1900" dirty="0"/>
          </a:p>
        </p:txBody>
      </p:sp>
      <p:sp>
        <p:nvSpPr>
          <p:cNvPr id="13" name="Text 11"/>
          <p:cNvSpPr txBox="1"/>
          <p:nvPr/>
        </p:nvSpPr>
        <p:spPr>
          <a:xfrm>
            <a:off x="6583680" y="2926080"/>
            <a:ext cx="4709160" cy="2743200"/>
          </a:xfrm>
          <a:prstGeom prst="rect">
            <a:avLst/>
          </a:prstGeom>
          <a:noFill/>
          <a:ln/>
        </p:spPr>
        <p:txBody>
          <a:bodyPr wrap="square" lIns="0" tIns="0" rIns="0" bIns="0" rtlCol="0" anchor="ctr"/>
          <a:lstStyle/>
          <a:p>
            <a:pPr indent="0" marL="0">
              <a:lnSpc>
                <a:spcPct val="125000"/>
              </a:lnSpc>
              <a:buNone/>
            </a:pPr>
            <a:r>
              <a:rPr lang="en-US" sz="1300" dirty="0">
                <a:solidFill>
                  <a:srgbClr val="5B6472"/>
                </a:solidFill>
                <a:latin typeface="Calibri" pitchFamily="34" charset="0"/>
                <a:ea typeface="Calibri" pitchFamily="34" charset="-122"/>
                <a:cs typeface="Calibri" pitchFamily="34" charset="-120"/>
              </a:rPr>
              <a:t>I take this opportunity to express my gratitude to everyone who supported me throughout the internship programme. I am thankful for their guidance, constructive feedback, and encouragement, which shaped this report and the work behind it. I also thank my parents for their continued blessings and support.</a:t>
            </a:r>
            <a:endParaRPr lang="en-US" sz="1300" dirty="0"/>
          </a:p>
        </p:txBody>
      </p:sp>
      <p:sp>
        <p:nvSpPr>
          <p:cNvPr id="14" name="Shape 12"/>
          <p:cNvSpPr/>
          <p:nvPr/>
        </p:nvSpPr>
        <p:spPr>
          <a:xfrm>
            <a:off x="6583680" y="5394960"/>
            <a:ext cx="4709160" cy="0"/>
          </a:xfrm>
          <a:prstGeom prst="line">
            <a:avLst/>
          </a:prstGeom>
          <a:noFill/>
          <a:ln w="12700">
            <a:solidFill>
              <a:srgbClr val="DCE3EC"/>
            </a:solidFill>
            <a:prstDash val="solid"/>
          </a:ln>
        </p:spPr>
      </p:sp>
      <p:sp>
        <p:nvSpPr>
          <p:cNvPr id="15" name="Text 13"/>
          <p:cNvSpPr txBox="1"/>
          <p:nvPr/>
        </p:nvSpPr>
        <p:spPr>
          <a:xfrm>
            <a:off x="6583680" y="5532120"/>
            <a:ext cx="4709160" cy="548640"/>
          </a:xfrm>
          <a:prstGeom prst="rect">
            <a:avLst/>
          </a:prstGeom>
          <a:noFill/>
          <a:ln/>
        </p:spPr>
        <p:txBody>
          <a:bodyPr wrap="square" lIns="0" tIns="0" rIns="0" bIns="0" rtlCol="0" anchor="ctr"/>
          <a:lstStyle/>
          <a:p>
            <a:pPr indent="0" marL="0">
              <a:buNone/>
            </a:pPr>
            <a:r>
              <a:rPr lang="en-US" sz="1100" b="1" dirty="0">
                <a:solidFill>
                  <a:srgbClr val="1B2430"/>
                </a:solidFill>
                <a:latin typeface="Calibri" pitchFamily="34" charset="0"/>
                <a:ea typeface="Calibri" pitchFamily="34" charset="-122"/>
                <a:cs typeface="Calibri" pitchFamily="34" charset="-120"/>
              </a:rPr>
              <a:t>Kumar Swatantra  |  Roll No. 2410030882</a:t>
            </a:r>
            <a:endParaRPr lang="en-US" sz="1100" dirty="0"/>
          </a:p>
        </p:txBody>
      </p:sp>
      <p:sp>
        <p:nvSpPr>
          <p:cNvPr id="16" name="Text 14"/>
          <p:cNvSpPr txBox="1"/>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Kumar Swatantra  •  2410030882  •  IILM University, Greater Noida</a:t>
            </a:r>
            <a:endParaRPr lang="en-US" sz="900" dirty="0"/>
          </a:p>
        </p:txBody>
      </p:sp>
      <p:sp>
        <p:nvSpPr>
          <p:cNvPr id="17" name="Text 15"/>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320040"/>
          </a:xfrm>
          <a:prstGeom prst="rect">
            <a:avLst/>
          </a:prstGeom>
          <a:noFill/>
          <a:ln/>
        </p:spPr>
        <p:txBody>
          <a:bodyPr wrap="square" lIns="0" tIns="0" rIns="0" bIns="0" rtlCol="0" anchor="ctr"/>
          <a:lstStyle/>
          <a:p>
            <a:pPr indent="0" marL="0">
              <a:buNone/>
            </a:pPr>
            <a:r>
              <a:rPr lang="en-US" sz="1200" b="1" spc="200" kern="0" dirty="0">
                <a:solidFill>
                  <a:srgbClr val="7A1B2E"/>
                </a:solidFill>
                <a:latin typeface="Calibri" pitchFamily="34" charset="0"/>
                <a:ea typeface="Calibri" pitchFamily="34" charset="-122"/>
                <a:cs typeface="Calibri" pitchFamily="34" charset="-120"/>
              </a:rPr>
              <a:t>CHAPTER 3</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Internship Completion Certificate</a:t>
            </a:r>
            <a:endParaRPr lang="en-US" sz="3000" dirty="0"/>
          </a:p>
        </p:txBody>
      </p:sp>
      <p:sp>
        <p:nvSpPr>
          <p:cNvPr id="4" name="Shape 2"/>
          <p:cNvSpPr/>
          <p:nvPr/>
        </p:nvSpPr>
        <p:spPr>
          <a:xfrm>
            <a:off x="548640" y="1325880"/>
            <a:ext cx="3417687" cy="4754880"/>
          </a:xfrm>
          <a:prstGeom prst="roundRect">
            <a:avLst>
              <a:gd name="adj" fmla="val 1605"/>
            </a:avLst>
          </a:prstGeom>
          <a:solidFill>
            <a:srgbClr val="FFFFFF"/>
          </a:solidFill>
          <a:ln w="12700">
            <a:solidFill>
              <a:srgbClr val="DCE3EC"/>
            </a:solidFill>
            <a:prstDash val="solid"/>
          </a:ln>
          <a:effectLst>
            <a:outerShdw sx="100000" sy="100000" kx="0" ky="0" algn="bl" rotWithShape="0" blurRad="127000" dist="25400" dir="5400000">
              <a:srgbClr val="8AA0BE">
                <a:alpha val="30000"/>
              </a:srgbClr>
            </a:outerShdw>
          </a:effectLst>
        </p:spPr>
      </p:sp>
      <p:pic>
        <p:nvPicPr>
          <p:cNvPr id="5" name="Image 0" descr="/home/claude/assets/cert-1.jpg">    </p:cNvPr>
          <p:cNvPicPr>
            <a:picLocks noChangeAspect="1"/>
          </p:cNvPicPr>
          <p:nvPr/>
        </p:nvPicPr>
        <p:blipFill>
          <a:blip r:embed="rId1"/>
          <a:stretch>
            <a:fillRect/>
          </a:stretch>
        </p:blipFill>
        <p:spPr>
          <a:xfrm>
            <a:off x="640080" y="1417320"/>
            <a:ext cx="3234807" cy="4572000"/>
          </a:xfrm>
          <a:prstGeom prst="rect">
            <a:avLst/>
          </a:prstGeom>
        </p:spPr>
      </p:pic>
      <p:sp>
        <p:nvSpPr>
          <p:cNvPr id="6" name="Text 3"/>
          <p:cNvSpPr txBox="1"/>
          <p:nvPr/>
        </p:nvSpPr>
        <p:spPr>
          <a:xfrm>
            <a:off x="4514967" y="1417320"/>
            <a:ext cx="7128088" cy="868680"/>
          </a:xfrm>
          <a:prstGeom prst="rect">
            <a:avLst/>
          </a:prstGeom>
          <a:noFill/>
          <a:ln/>
        </p:spPr>
        <p:txBody>
          <a:bodyPr wrap="square" lIns="0" tIns="0" rIns="0" bIns="0" rtlCol="0" anchor="ctr"/>
          <a:lstStyle/>
          <a:p>
            <a:pPr indent="0" marL="0">
              <a:lnSpc>
                <a:spcPct val="120000"/>
              </a:lnSpc>
              <a:buNone/>
            </a:pPr>
            <a:r>
              <a:rPr lang="en-US" sz="1400" dirty="0">
                <a:solidFill>
                  <a:srgbClr val="1B2430"/>
                </a:solidFill>
                <a:latin typeface="Calibri" pitchFamily="34" charset="0"/>
                <a:ea typeface="Calibri" pitchFamily="34" charset="-122"/>
                <a:cs typeface="Calibri" pitchFamily="34" charset="-120"/>
              </a:rPr>
              <a:t>Certificate No. YI/2026/200776/440363 confirms successful completion of the internship in the role of Junior ReactJS Developer.</a:t>
            </a:r>
            <a:endParaRPr lang="en-US" sz="1400" dirty="0"/>
          </a:p>
        </p:txBody>
      </p:sp>
      <p:sp>
        <p:nvSpPr>
          <p:cNvPr id="7" name="Shape 4"/>
          <p:cNvSpPr/>
          <p:nvPr/>
        </p:nvSpPr>
        <p:spPr>
          <a:xfrm>
            <a:off x="4514967" y="2514600"/>
            <a:ext cx="128016" cy="128016"/>
          </a:xfrm>
          <a:prstGeom prst="roundRect">
            <a:avLst>
              <a:gd name="adj" fmla="val 50000"/>
            </a:avLst>
          </a:prstGeom>
          <a:solidFill>
            <a:srgbClr val="0EA5B7"/>
          </a:solidFill>
          <a:ln w="12700">
            <a:solidFill>
              <a:srgbClr val="0EA5B7"/>
            </a:solidFill>
            <a:prstDash val="solid"/>
          </a:ln>
        </p:spPr>
      </p:sp>
      <p:sp>
        <p:nvSpPr>
          <p:cNvPr id="8" name="Text 5"/>
          <p:cNvSpPr txBox="1"/>
          <p:nvPr/>
        </p:nvSpPr>
        <p:spPr>
          <a:xfrm>
            <a:off x="4789287" y="2441448"/>
            <a:ext cx="6853768" cy="256032"/>
          </a:xfrm>
          <a:prstGeom prst="rect">
            <a:avLst/>
          </a:prstGeom>
          <a:noFill/>
          <a:ln/>
        </p:spPr>
        <p:txBody>
          <a:bodyPr wrap="square" lIns="0" tIns="0" rIns="0" bIns="0" rtlCol="0" anchor="ctr"/>
          <a:lstStyle/>
          <a:p>
            <a:pPr indent="0" marL="0">
              <a:buNone/>
            </a:pPr>
            <a:r>
              <a:rPr lang="en-US" sz="1000" b="1" spc="100" kern="0" dirty="0">
                <a:solidFill>
                  <a:srgbClr val="7A1B2E"/>
                </a:solidFill>
                <a:latin typeface="Calibri" pitchFamily="34" charset="0"/>
                <a:ea typeface="Calibri" pitchFamily="34" charset="-122"/>
                <a:cs typeface="Calibri" pitchFamily="34" charset="-120"/>
              </a:rPr>
              <a:t>ORGANIZATION</a:t>
            </a:r>
            <a:endParaRPr lang="en-US" sz="1000" dirty="0"/>
          </a:p>
        </p:txBody>
      </p:sp>
      <p:sp>
        <p:nvSpPr>
          <p:cNvPr id="9" name="Text 6"/>
          <p:cNvSpPr txBox="1"/>
          <p:nvPr/>
        </p:nvSpPr>
        <p:spPr>
          <a:xfrm>
            <a:off x="4789287" y="2688336"/>
            <a:ext cx="6853768"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YuvaIntern</a:t>
            </a:r>
            <a:endParaRPr lang="en-US" sz="1400" dirty="0"/>
          </a:p>
        </p:txBody>
      </p:sp>
      <p:sp>
        <p:nvSpPr>
          <p:cNvPr id="10" name="Shape 7"/>
          <p:cNvSpPr/>
          <p:nvPr/>
        </p:nvSpPr>
        <p:spPr>
          <a:xfrm>
            <a:off x="4514967" y="3136392"/>
            <a:ext cx="128016" cy="128016"/>
          </a:xfrm>
          <a:prstGeom prst="roundRect">
            <a:avLst>
              <a:gd name="adj" fmla="val 50000"/>
            </a:avLst>
          </a:prstGeom>
          <a:solidFill>
            <a:srgbClr val="0EA5B7"/>
          </a:solidFill>
          <a:ln w="12700">
            <a:solidFill>
              <a:srgbClr val="0EA5B7"/>
            </a:solidFill>
            <a:prstDash val="solid"/>
          </a:ln>
        </p:spPr>
      </p:sp>
      <p:sp>
        <p:nvSpPr>
          <p:cNvPr id="11" name="Text 8"/>
          <p:cNvSpPr txBox="1"/>
          <p:nvPr/>
        </p:nvSpPr>
        <p:spPr>
          <a:xfrm>
            <a:off x="4789287" y="3063240"/>
            <a:ext cx="6853768" cy="256032"/>
          </a:xfrm>
          <a:prstGeom prst="rect">
            <a:avLst/>
          </a:prstGeom>
          <a:noFill/>
          <a:ln/>
        </p:spPr>
        <p:txBody>
          <a:bodyPr wrap="square" lIns="0" tIns="0" rIns="0" bIns="0" rtlCol="0" anchor="ctr"/>
          <a:lstStyle/>
          <a:p>
            <a:pPr indent="0" marL="0">
              <a:buNone/>
            </a:pPr>
            <a:r>
              <a:rPr lang="en-US" sz="1000" b="1" spc="100" kern="0" dirty="0">
                <a:solidFill>
                  <a:srgbClr val="7A1B2E"/>
                </a:solidFill>
                <a:latin typeface="Calibri" pitchFamily="34" charset="0"/>
                <a:ea typeface="Calibri" pitchFamily="34" charset="-122"/>
                <a:cs typeface="Calibri" pitchFamily="34" charset="-120"/>
              </a:rPr>
              <a:t>ROLE</a:t>
            </a:r>
            <a:endParaRPr lang="en-US" sz="1000" dirty="0"/>
          </a:p>
        </p:txBody>
      </p:sp>
      <p:sp>
        <p:nvSpPr>
          <p:cNvPr id="12" name="Text 9"/>
          <p:cNvSpPr txBox="1"/>
          <p:nvPr/>
        </p:nvSpPr>
        <p:spPr>
          <a:xfrm>
            <a:off x="4789287" y="3310128"/>
            <a:ext cx="6853768"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Junior ReactJS Developer</a:t>
            </a:r>
            <a:endParaRPr lang="en-US" sz="1400" dirty="0"/>
          </a:p>
        </p:txBody>
      </p:sp>
      <p:sp>
        <p:nvSpPr>
          <p:cNvPr id="13" name="Shape 10"/>
          <p:cNvSpPr/>
          <p:nvPr/>
        </p:nvSpPr>
        <p:spPr>
          <a:xfrm>
            <a:off x="4514967" y="3758184"/>
            <a:ext cx="128016" cy="128016"/>
          </a:xfrm>
          <a:prstGeom prst="roundRect">
            <a:avLst>
              <a:gd name="adj" fmla="val 50000"/>
            </a:avLst>
          </a:prstGeom>
          <a:solidFill>
            <a:srgbClr val="0EA5B7"/>
          </a:solidFill>
          <a:ln w="12700">
            <a:solidFill>
              <a:srgbClr val="0EA5B7"/>
            </a:solidFill>
            <a:prstDash val="solid"/>
          </a:ln>
        </p:spPr>
      </p:sp>
      <p:sp>
        <p:nvSpPr>
          <p:cNvPr id="14" name="Text 11"/>
          <p:cNvSpPr txBox="1"/>
          <p:nvPr/>
        </p:nvSpPr>
        <p:spPr>
          <a:xfrm>
            <a:off x="4789287" y="3685032"/>
            <a:ext cx="6853768" cy="256032"/>
          </a:xfrm>
          <a:prstGeom prst="rect">
            <a:avLst/>
          </a:prstGeom>
          <a:noFill/>
          <a:ln/>
        </p:spPr>
        <p:txBody>
          <a:bodyPr wrap="square" lIns="0" tIns="0" rIns="0" bIns="0" rtlCol="0" anchor="ctr"/>
          <a:lstStyle/>
          <a:p>
            <a:pPr indent="0" marL="0">
              <a:buNone/>
            </a:pPr>
            <a:r>
              <a:rPr lang="en-US" sz="1000" b="1" spc="100" kern="0" dirty="0">
                <a:solidFill>
                  <a:srgbClr val="7A1B2E"/>
                </a:solidFill>
                <a:latin typeface="Calibri" pitchFamily="34" charset="0"/>
                <a:ea typeface="Calibri" pitchFamily="34" charset="-122"/>
                <a:cs typeface="Calibri" pitchFamily="34" charset="-120"/>
              </a:rPr>
              <a:t>CERTIFICATE NO.</a:t>
            </a:r>
            <a:endParaRPr lang="en-US" sz="1000" dirty="0"/>
          </a:p>
        </p:txBody>
      </p:sp>
      <p:sp>
        <p:nvSpPr>
          <p:cNvPr id="15" name="Text 12"/>
          <p:cNvSpPr txBox="1"/>
          <p:nvPr/>
        </p:nvSpPr>
        <p:spPr>
          <a:xfrm>
            <a:off x="4789287" y="3931920"/>
            <a:ext cx="6853768"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YI/2026/200776/440363</a:t>
            </a:r>
            <a:endParaRPr lang="en-US" sz="1400" dirty="0"/>
          </a:p>
        </p:txBody>
      </p:sp>
      <p:sp>
        <p:nvSpPr>
          <p:cNvPr id="16" name="Shape 13"/>
          <p:cNvSpPr/>
          <p:nvPr/>
        </p:nvSpPr>
        <p:spPr>
          <a:xfrm>
            <a:off x="4514967" y="4379976"/>
            <a:ext cx="128016" cy="128016"/>
          </a:xfrm>
          <a:prstGeom prst="roundRect">
            <a:avLst>
              <a:gd name="adj" fmla="val 50000"/>
            </a:avLst>
          </a:prstGeom>
          <a:solidFill>
            <a:srgbClr val="0EA5B7"/>
          </a:solidFill>
          <a:ln w="12700">
            <a:solidFill>
              <a:srgbClr val="0EA5B7"/>
            </a:solidFill>
            <a:prstDash val="solid"/>
          </a:ln>
        </p:spPr>
      </p:sp>
      <p:sp>
        <p:nvSpPr>
          <p:cNvPr id="17" name="Text 14"/>
          <p:cNvSpPr txBox="1"/>
          <p:nvPr/>
        </p:nvSpPr>
        <p:spPr>
          <a:xfrm>
            <a:off x="4789287" y="4306824"/>
            <a:ext cx="6853768" cy="256032"/>
          </a:xfrm>
          <a:prstGeom prst="rect">
            <a:avLst/>
          </a:prstGeom>
          <a:noFill/>
          <a:ln/>
        </p:spPr>
        <p:txBody>
          <a:bodyPr wrap="square" lIns="0" tIns="0" rIns="0" bIns="0" rtlCol="0" anchor="ctr"/>
          <a:lstStyle/>
          <a:p>
            <a:pPr indent="0" marL="0">
              <a:buNone/>
            </a:pPr>
            <a:r>
              <a:rPr lang="en-US" sz="1000" b="1" spc="100" kern="0" dirty="0">
                <a:solidFill>
                  <a:srgbClr val="7A1B2E"/>
                </a:solidFill>
                <a:latin typeface="Calibri" pitchFamily="34" charset="0"/>
                <a:ea typeface="Calibri" pitchFamily="34" charset="-122"/>
                <a:cs typeface="Calibri" pitchFamily="34" charset="-120"/>
              </a:rPr>
              <a:t>DATE OF ISSUE</a:t>
            </a:r>
            <a:endParaRPr lang="en-US" sz="1000" dirty="0"/>
          </a:p>
        </p:txBody>
      </p:sp>
      <p:sp>
        <p:nvSpPr>
          <p:cNvPr id="18" name="Text 15"/>
          <p:cNvSpPr txBox="1"/>
          <p:nvPr/>
        </p:nvSpPr>
        <p:spPr>
          <a:xfrm>
            <a:off x="4789287" y="4553712"/>
            <a:ext cx="6853768"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October 13, 2026</a:t>
            </a:r>
            <a:endParaRPr lang="en-US" sz="1400" dirty="0"/>
          </a:p>
        </p:txBody>
      </p:sp>
      <p:sp>
        <p:nvSpPr>
          <p:cNvPr id="19" name="Shape 16"/>
          <p:cNvSpPr/>
          <p:nvPr/>
        </p:nvSpPr>
        <p:spPr>
          <a:xfrm>
            <a:off x="4514967" y="5001768"/>
            <a:ext cx="128016" cy="128016"/>
          </a:xfrm>
          <a:prstGeom prst="roundRect">
            <a:avLst>
              <a:gd name="adj" fmla="val 50000"/>
            </a:avLst>
          </a:prstGeom>
          <a:solidFill>
            <a:srgbClr val="0EA5B7"/>
          </a:solidFill>
          <a:ln w="12700">
            <a:solidFill>
              <a:srgbClr val="0EA5B7"/>
            </a:solidFill>
            <a:prstDash val="solid"/>
          </a:ln>
        </p:spPr>
      </p:sp>
      <p:sp>
        <p:nvSpPr>
          <p:cNvPr id="20" name="Text 17"/>
          <p:cNvSpPr txBox="1"/>
          <p:nvPr/>
        </p:nvSpPr>
        <p:spPr>
          <a:xfrm>
            <a:off x="4789287" y="4928616"/>
            <a:ext cx="6853768" cy="256032"/>
          </a:xfrm>
          <a:prstGeom prst="rect">
            <a:avLst/>
          </a:prstGeom>
          <a:noFill/>
          <a:ln/>
        </p:spPr>
        <p:txBody>
          <a:bodyPr wrap="square" lIns="0" tIns="0" rIns="0" bIns="0" rtlCol="0" anchor="ctr"/>
          <a:lstStyle/>
          <a:p>
            <a:pPr indent="0" marL="0">
              <a:buNone/>
            </a:pPr>
            <a:r>
              <a:rPr lang="en-US" sz="1000" b="1" spc="100" kern="0" dirty="0">
                <a:solidFill>
                  <a:srgbClr val="7A1B2E"/>
                </a:solidFill>
                <a:latin typeface="Calibri" pitchFamily="34" charset="0"/>
                <a:ea typeface="Calibri" pitchFamily="34" charset="-122"/>
                <a:cs typeface="Calibri" pitchFamily="34" charset="-120"/>
              </a:rPr>
              <a:t>ISSUED BY</a:t>
            </a:r>
            <a:endParaRPr lang="en-US" sz="1000" dirty="0"/>
          </a:p>
        </p:txBody>
      </p:sp>
      <p:sp>
        <p:nvSpPr>
          <p:cNvPr id="21" name="Text 18"/>
          <p:cNvSpPr txBox="1"/>
          <p:nvPr/>
        </p:nvSpPr>
        <p:spPr>
          <a:xfrm>
            <a:off x="4789287" y="5175504"/>
            <a:ext cx="6853768" cy="36576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Kounal Gupta, Founder — YuvaIntern.com</a:t>
            </a:r>
            <a:endParaRPr lang="en-US" sz="1400" dirty="0"/>
          </a:p>
        </p:txBody>
      </p:sp>
      <p:sp>
        <p:nvSpPr>
          <p:cNvPr id="22" name="Text 19"/>
          <p:cNvSpPr txBox="1"/>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Kumar Swatantra  •  2410030882  •  IILM University, Greater Noida</a:t>
            </a:r>
            <a:endParaRPr lang="en-US" sz="900" dirty="0"/>
          </a:p>
        </p:txBody>
      </p:sp>
      <p:sp>
        <p:nvSpPr>
          <p:cNvPr id="23" name="Text 20"/>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320040"/>
          </a:xfrm>
          <a:prstGeom prst="rect">
            <a:avLst/>
          </a:prstGeom>
          <a:noFill/>
          <a:ln/>
        </p:spPr>
        <p:txBody>
          <a:bodyPr wrap="square" lIns="0" tIns="0" rIns="0" bIns="0" rtlCol="0" anchor="ctr"/>
          <a:lstStyle/>
          <a:p>
            <a:pPr indent="0" marL="0">
              <a:buNone/>
            </a:pPr>
            <a:r>
              <a:rPr lang="en-US" sz="1200" b="1" spc="200" kern="0" dirty="0">
                <a:solidFill>
                  <a:srgbClr val="7A1B2E"/>
                </a:solidFill>
                <a:latin typeface="Calibri" pitchFamily="34" charset="0"/>
                <a:ea typeface="Calibri" pitchFamily="34" charset="-122"/>
                <a:cs typeface="Calibri" pitchFamily="34" charset="-120"/>
              </a:rPr>
              <a:t>SECTION 4.1 – 4.2</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Introduction &amp; Organization Profile</a:t>
            </a:r>
            <a:endParaRPr lang="en-US" sz="3000" dirty="0"/>
          </a:p>
        </p:txBody>
      </p:sp>
      <p:sp>
        <p:nvSpPr>
          <p:cNvPr id="4" name="Text 2"/>
          <p:cNvSpPr txBox="1"/>
          <p:nvPr/>
        </p:nvSpPr>
        <p:spPr>
          <a:xfrm>
            <a:off x="548640" y="1463040"/>
            <a:ext cx="5486400" cy="365760"/>
          </a:xfrm>
          <a:prstGeom prst="rect">
            <a:avLst/>
          </a:prstGeom>
          <a:noFill/>
          <a:ln/>
        </p:spPr>
        <p:txBody>
          <a:bodyPr wrap="square" lIns="0" tIns="0" rIns="0" bIns="0" rtlCol="0" anchor="ctr"/>
          <a:lstStyle/>
          <a:p>
            <a:pPr indent="0" marL="0">
              <a:buNone/>
            </a:pPr>
            <a:r>
              <a:rPr lang="en-US" sz="1800" b="1" dirty="0">
                <a:solidFill>
                  <a:srgbClr val="7A1B2E"/>
                </a:solidFill>
                <a:latin typeface="Cambria" pitchFamily="34" charset="0"/>
                <a:ea typeface="Cambria" pitchFamily="34" charset="-122"/>
                <a:cs typeface="Cambria" pitchFamily="34" charset="-120"/>
              </a:rPr>
              <a:t>4.1  Introduction</a:t>
            </a:r>
            <a:endParaRPr lang="en-US" sz="1800" dirty="0"/>
          </a:p>
        </p:txBody>
      </p:sp>
      <p:sp>
        <p:nvSpPr>
          <p:cNvPr id="5" name="Text 3"/>
          <p:cNvSpPr txBox="1"/>
          <p:nvPr/>
        </p:nvSpPr>
        <p:spPr>
          <a:xfrm>
            <a:off x="548640" y="1874520"/>
            <a:ext cx="5486400" cy="1828800"/>
          </a:xfrm>
          <a:prstGeom prst="rect">
            <a:avLst/>
          </a:prstGeom>
          <a:noFill/>
          <a:ln/>
        </p:spPr>
        <p:txBody>
          <a:bodyPr wrap="square" lIns="0" tIns="0" rIns="0" bIns="0" rtlCol="0" anchor="ctr"/>
          <a:lstStyle/>
          <a:p>
            <a:pPr indent="0" marL="0">
              <a:lnSpc>
                <a:spcPct val="130000"/>
              </a:lnSpc>
              <a:buNone/>
            </a:pPr>
            <a:r>
              <a:rPr lang="en-US" sz="1350" dirty="0">
                <a:solidFill>
                  <a:srgbClr val="5B6472"/>
                </a:solidFill>
                <a:latin typeface="Calibri" pitchFamily="34" charset="0"/>
                <a:ea typeface="Calibri" pitchFamily="34" charset="-122"/>
                <a:cs typeface="Calibri" pitchFamily="34" charset="-120"/>
              </a:rPr>
              <a:t>This report presents the internship undertaken as a Junior ReactJS Developer at YuvaIntern during the 2026–27 academic year. The internship focused on building and enhancing user-facing web features using ReactJS, giving hands-on exposure to real-world front-end development practices alongside academic learning at IILM University.</a:t>
            </a:r>
            <a:endParaRPr lang="en-US" sz="1350" dirty="0"/>
          </a:p>
        </p:txBody>
      </p:sp>
      <p:sp>
        <p:nvSpPr>
          <p:cNvPr id="6" name="Shape 4"/>
          <p:cNvSpPr/>
          <p:nvPr/>
        </p:nvSpPr>
        <p:spPr>
          <a:xfrm>
            <a:off x="548640" y="3794760"/>
            <a:ext cx="128016" cy="128016"/>
          </a:xfrm>
          <a:prstGeom prst="roundRect">
            <a:avLst>
              <a:gd name="adj" fmla="val 50000"/>
            </a:avLst>
          </a:prstGeom>
          <a:solidFill>
            <a:srgbClr val="0EA5B7"/>
          </a:solidFill>
          <a:ln w="12700">
            <a:solidFill>
              <a:srgbClr val="0EA5B7"/>
            </a:solidFill>
            <a:prstDash val="solid"/>
          </a:ln>
        </p:spPr>
      </p:sp>
      <p:sp>
        <p:nvSpPr>
          <p:cNvPr id="7" name="Text 5"/>
          <p:cNvSpPr txBox="1"/>
          <p:nvPr/>
        </p:nvSpPr>
        <p:spPr>
          <a:xfrm>
            <a:off x="822960" y="3694176"/>
            <a:ext cx="1554480" cy="292608"/>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Role:</a:t>
            </a:r>
            <a:endParaRPr lang="en-US" sz="1200" dirty="0"/>
          </a:p>
        </p:txBody>
      </p:sp>
      <p:sp>
        <p:nvSpPr>
          <p:cNvPr id="8" name="Text 6"/>
          <p:cNvSpPr txBox="1"/>
          <p:nvPr/>
        </p:nvSpPr>
        <p:spPr>
          <a:xfrm>
            <a:off x="2286000" y="3694176"/>
            <a:ext cx="3657600" cy="292608"/>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Junior ReactJS Developer</a:t>
            </a:r>
            <a:endParaRPr lang="en-US" sz="1200" dirty="0"/>
          </a:p>
        </p:txBody>
      </p:sp>
      <p:sp>
        <p:nvSpPr>
          <p:cNvPr id="9" name="Shape 7"/>
          <p:cNvSpPr/>
          <p:nvPr/>
        </p:nvSpPr>
        <p:spPr>
          <a:xfrm>
            <a:off x="548640" y="4206240"/>
            <a:ext cx="128016" cy="128016"/>
          </a:xfrm>
          <a:prstGeom prst="roundRect">
            <a:avLst>
              <a:gd name="adj" fmla="val 50000"/>
            </a:avLst>
          </a:prstGeom>
          <a:solidFill>
            <a:srgbClr val="0EA5B7"/>
          </a:solidFill>
          <a:ln w="12700">
            <a:solidFill>
              <a:srgbClr val="0EA5B7"/>
            </a:solidFill>
            <a:prstDash val="solid"/>
          </a:ln>
        </p:spPr>
      </p:sp>
      <p:sp>
        <p:nvSpPr>
          <p:cNvPr id="10" name="Text 8"/>
          <p:cNvSpPr txBox="1"/>
          <p:nvPr/>
        </p:nvSpPr>
        <p:spPr>
          <a:xfrm>
            <a:off x="822960" y="4105656"/>
            <a:ext cx="1554480" cy="292608"/>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Organization:</a:t>
            </a:r>
            <a:endParaRPr lang="en-US" sz="1200" dirty="0"/>
          </a:p>
        </p:txBody>
      </p:sp>
      <p:sp>
        <p:nvSpPr>
          <p:cNvPr id="11" name="Text 9"/>
          <p:cNvSpPr txBox="1"/>
          <p:nvPr/>
        </p:nvSpPr>
        <p:spPr>
          <a:xfrm>
            <a:off x="2286000" y="4105656"/>
            <a:ext cx="3657600" cy="292608"/>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YuvaIntern</a:t>
            </a:r>
            <a:endParaRPr lang="en-US" sz="1200" dirty="0"/>
          </a:p>
        </p:txBody>
      </p:sp>
      <p:sp>
        <p:nvSpPr>
          <p:cNvPr id="12" name="Shape 10"/>
          <p:cNvSpPr/>
          <p:nvPr/>
        </p:nvSpPr>
        <p:spPr>
          <a:xfrm>
            <a:off x="548640" y="4617720"/>
            <a:ext cx="128016" cy="128016"/>
          </a:xfrm>
          <a:prstGeom prst="roundRect">
            <a:avLst>
              <a:gd name="adj" fmla="val 50000"/>
            </a:avLst>
          </a:prstGeom>
          <a:solidFill>
            <a:srgbClr val="0EA5B7"/>
          </a:solidFill>
          <a:ln w="12700">
            <a:solidFill>
              <a:srgbClr val="0EA5B7"/>
            </a:solidFill>
            <a:prstDash val="solid"/>
          </a:ln>
        </p:spPr>
      </p:sp>
      <p:sp>
        <p:nvSpPr>
          <p:cNvPr id="13" name="Text 11"/>
          <p:cNvSpPr txBox="1"/>
          <p:nvPr/>
        </p:nvSpPr>
        <p:spPr>
          <a:xfrm>
            <a:off x="822960" y="4517136"/>
            <a:ext cx="1554480" cy="292608"/>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Domain:</a:t>
            </a:r>
            <a:endParaRPr lang="en-US" sz="1200" dirty="0"/>
          </a:p>
        </p:txBody>
      </p:sp>
      <p:sp>
        <p:nvSpPr>
          <p:cNvPr id="14" name="Text 12"/>
          <p:cNvSpPr txBox="1"/>
          <p:nvPr/>
        </p:nvSpPr>
        <p:spPr>
          <a:xfrm>
            <a:off x="2286000" y="4517136"/>
            <a:ext cx="3657600" cy="292608"/>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Web / Front-End Development</a:t>
            </a:r>
            <a:endParaRPr lang="en-US" sz="1200" dirty="0"/>
          </a:p>
        </p:txBody>
      </p:sp>
      <p:sp>
        <p:nvSpPr>
          <p:cNvPr id="15" name="Shape 13"/>
          <p:cNvSpPr/>
          <p:nvPr/>
        </p:nvSpPr>
        <p:spPr>
          <a:xfrm>
            <a:off x="548640" y="5029200"/>
            <a:ext cx="128016" cy="128016"/>
          </a:xfrm>
          <a:prstGeom prst="roundRect">
            <a:avLst>
              <a:gd name="adj" fmla="val 50000"/>
            </a:avLst>
          </a:prstGeom>
          <a:solidFill>
            <a:srgbClr val="0EA5B7"/>
          </a:solidFill>
          <a:ln w="12700">
            <a:solidFill>
              <a:srgbClr val="0EA5B7"/>
            </a:solidFill>
            <a:prstDash val="solid"/>
          </a:ln>
        </p:spPr>
      </p:sp>
      <p:sp>
        <p:nvSpPr>
          <p:cNvPr id="16" name="Text 14"/>
          <p:cNvSpPr txBox="1"/>
          <p:nvPr/>
        </p:nvSpPr>
        <p:spPr>
          <a:xfrm>
            <a:off x="822960" y="4928616"/>
            <a:ext cx="1554480" cy="292608"/>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Duration:</a:t>
            </a:r>
            <a:endParaRPr lang="en-US" sz="1200" dirty="0"/>
          </a:p>
        </p:txBody>
      </p:sp>
      <p:sp>
        <p:nvSpPr>
          <p:cNvPr id="17" name="Text 15"/>
          <p:cNvSpPr txBox="1"/>
          <p:nvPr/>
        </p:nvSpPr>
        <p:spPr>
          <a:xfrm>
            <a:off x="2286000" y="4928616"/>
            <a:ext cx="3657600" cy="292608"/>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Academic Year 2026–27</a:t>
            </a:r>
            <a:endParaRPr lang="en-US" sz="1200" dirty="0"/>
          </a:p>
        </p:txBody>
      </p:sp>
      <p:sp>
        <p:nvSpPr>
          <p:cNvPr id="18" name="Shape 16"/>
          <p:cNvSpPr/>
          <p:nvPr/>
        </p:nvSpPr>
        <p:spPr>
          <a:xfrm>
            <a:off x="6400800" y="1417320"/>
            <a:ext cx="5257800" cy="4800600"/>
          </a:xfrm>
          <a:prstGeom prst="roundRect">
            <a:avLst>
              <a:gd name="adj" fmla="val 1524"/>
            </a:avLst>
          </a:prstGeom>
          <a:solidFill>
            <a:srgbClr val="13233F"/>
          </a:solidFill>
          <a:ln w="12700">
            <a:solidFill>
              <a:srgbClr val="13233F"/>
            </a:solidFill>
            <a:prstDash val="solid"/>
          </a:ln>
        </p:spPr>
      </p:sp>
      <p:sp>
        <p:nvSpPr>
          <p:cNvPr id="19" name="Text 17"/>
          <p:cNvSpPr txBox="1"/>
          <p:nvPr/>
        </p:nvSpPr>
        <p:spPr>
          <a:xfrm>
            <a:off x="6766560" y="1737360"/>
            <a:ext cx="4526280" cy="365760"/>
          </a:xfrm>
          <a:prstGeom prst="rect">
            <a:avLst/>
          </a:prstGeom>
          <a:noFill/>
          <a:ln/>
        </p:spPr>
        <p:txBody>
          <a:bodyPr wrap="square" lIns="0" tIns="0" rIns="0" bIns="0" rtlCol="0" anchor="ctr"/>
          <a:lstStyle/>
          <a:p>
            <a:pPr indent="0" marL="0">
              <a:buNone/>
            </a:pPr>
            <a:r>
              <a:rPr lang="en-US" sz="1800" b="1" dirty="0">
                <a:solidFill>
                  <a:srgbClr val="0EA5B7"/>
                </a:solidFill>
                <a:latin typeface="Cambria" pitchFamily="34" charset="0"/>
                <a:ea typeface="Cambria" pitchFamily="34" charset="-122"/>
                <a:cs typeface="Cambria" pitchFamily="34" charset="-120"/>
              </a:rPr>
              <a:t>4.2  Organization Profile</a:t>
            </a:r>
            <a:endParaRPr lang="en-US" sz="1800" dirty="0"/>
          </a:p>
        </p:txBody>
      </p:sp>
      <p:sp>
        <p:nvSpPr>
          <p:cNvPr id="20" name="Text 18"/>
          <p:cNvSpPr txBox="1"/>
          <p:nvPr/>
        </p:nvSpPr>
        <p:spPr>
          <a:xfrm>
            <a:off x="6766560" y="2148840"/>
            <a:ext cx="4526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YuvaIntern</a:t>
            </a:r>
            <a:endParaRPr lang="en-US" sz="2400" dirty="0"/>
          </a:p>
        </p:txBody>
      </p:sp>
      <p:sp>
        <p:nvSpPr>
          <p:cNvPr id="21" name="Text 19"/>
          <p:cNvSpPr txBox="1"/>
          <p:nvPr/>
        </p:nvSpPr>
        <p:spPr>
          <a:xfrm>
            <a:off x="6766560" y="2697480"/>
            <a:ext cx="4526280" cy="1554480"/>
          </a:xfrm>
          <a:prstGeom prst="rect">
            <a:avLst/>
          </a:prstGeom>
          <a:noFill/>
          <a:ln/>
        </p:spPr>
        <p:txBody>
          <a:bodyPr wrap="square" lIns="0" tIns="0" rIns="0" bIns="0" rtlCol="0" anchor="ctr"/>
          <a:lstStyle/>
          <a:p>
            <a:pPr indent="0" marL="0">
              <a:lnSpc>
                <a:spcPct val="130000"/>
              </a:lnSpc>
              <a:buNone/>
            </a:pPr>
            <a:r>
              <a:rPr lang="en-US" sz="1250" dirty="0">
                <a:solidFill>
                  <a:srgbClr val="C9D6E8"/>
                </a:solidFill>
                <a:latin typeface="Calibri" pitchFamily="34" charset="0"/>
                <a:ea typeface="Calibri" pitchFamily="34" charset="-122"/>
                <a:cs typeface="Calibri" pitchFamily="34" charset="-120"/>
              </a:rPr>
              <a:t>YuvaIntern is an internship platform that places students in skill-based virtual internships, run in association with Henry Harvin Education and aligned with the National Skill Development Corporation (NSDC). The internship was completed within the platform's web development track.</a:t>
            </a:r>
            <a:endParaRPr lang="en-US" sz="1250" dirty="0"/>
          </a:p>
        </p:txBody>
      </p:sp>
      <p:sp>
        <p:nvSpPr>
          <p:cNvPr id="22" name="Shape 20"/>
          <p:cNvSpPr/>
          <p:nvPr/>
        </p:nvSpPr>
        <p:spPr>
          <a:xfrm>
            <a:off x="6766560" y="4389120"/>
            <a:ext cx="4526280" cy="0"/>
          </a:xfrm>
          <a:prstGeom prst="line">
            <a:avLst/>
          </a:prstGeom>
          <a:noFill/>
          <a:ln w="12700">
            <a:solidFill>
              <a:srgbClr val="35486B"/>
            </a:solidFill>
            <a:prstDash val="solid"/>
          </a:ln>
        </p:spPr>
      </p:sp>
      <p:sp>
        <p:nvSpPr>
          <p:cNvPr id="23" name="Text 21"/>
          <p:cNvSpPr txBox="1"/>
          <p:nvPr/>
        </p:nvSpPr>
        <p:spPr>
          <a:xfrm>
            <a:off x="6766560" y="4617720"/>
            <a:ext cx="4526280" cy="228600"/>
          </a:xfrm>
          <a:prstGeom prst="rect">
            <a:avLst/>
          </a:prstGeom>
          <a:noFill/>
          <a:ln/>
        </p:spPr>
        <p:txBody>
          <a:bodyPr wrap="square" lIns="0" tIns="0" rIns="0" bIns="0" rtlCol="0" anchor="ctr"/>
          <a:lstStyle/>
          <a:p>
            <a:pPr indent="0" marL="0">
              <a:buNone/>
            </a:pPr>
            <a:r>
              <a:rPr lang="en-US" sz="950" b="1" spc="100" kern="0" dirty="0">
                <a:solidFill>
                  <a:srgbClr val="0EA5B7"/>
                </a:solidFill>
                <a:latin typeface="Calibri" pitchFamily="34" charset="0"/>
                <a:ea typeface="Calibri" pitchFamily="34" charset="-122"/>
                <a:cs typeface="Calibri" pitchFamily="34" charset="-120"/>
              </a:rPr>
              <a:t>PLACEMENT</a:t>
            </a:r>
            <a:endParaRPr lang="en-US" sz="950" dirty="0"/>
          </a:p>
        </p:txBody>
      </p:sp>
      <p:sp>
        <p:nvSpPr>
          <p:cNvPr id="24" name="Text 22"/>
          <p:cNvSpPr txBox="1"/>
          <p:nvPr/>
        </p:nvSpPr>
        <p:spPr>
          <a:xfrm>
            <a:off x="6766560" y="4837176"/>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Web Development track</a:t>
            </a:r>
            <a:endParaRPr lang="en-US" sz="1300" dirty="0"/>
          </a:p>
        </p:txBody>
      </p:sp>
      <p:sp>
        <p:nvSpPr>
          <p:cNvPr id="25" name="Text 23"/>
          <p:cNvSpPr txBox="1"/>
          <p:nvPr/>
        </p:nvSpPr>
        <p:spPr>
          <a:xfrm>
            <a:off x="6766560" y="5184648"/>
            <a:ext cx="4526280" cy="228600"/>
          </a:xfrm>
          <a:prstGeom prst="rect">
            <a:avLst/>
          </a:prstGeom>
          <a:noFill/>
          <a:ln/>
        </p:spPr>
        <p:txBody>
          <a:bodyPr wrap="square" lIns="0" tIns="0" rIns="0" bIns="0" rtlCol="0" anchor="ctr"/>
          <a:lstStyle/>
          <a:p>
            <a:pPr indent="0" marL="0">
              <a:buNone/>
            </a:pPr>
            <a:r>
              <a:rPr lang="en-US" sz="950" b="1" spc="100" kern="0" dirty="0">
                <a:solidFill>
                  <a:srgbClr val="0EA5B7"/>
                </a:solidFill>
                <a:latin typeface="Calibri" pitchFamily="34" charset="0"/>
                <a:ea typeface="Calibri" pitchFamily="34" charset="-122"/>
                <a:cs typeface="Calibri" pitchFamily="34" charset="-120"/>
              </a:rPr>
              <a:t>CERTIFICATION PARTNER</a:t>
            </a:r>
            <a:endParaRPr lang="en-US" sz="950" dirty="0"/>
          </a:p>
        </p:txBody>
      </p:sp>
      <p:sp>
        <p:nvSpPr>
          <p:cNvPr id="26" name="Text 24"/>
          <p:cNvSpPr txBox="1"/>
          <p:nvPr/>
        </p:nvSpPr>
        <p:spPr>
          <a:xfrm>
            <a:off x="6766560" y="5404104"/>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Henry Harvin Education</a:t>
            </a:r>
            <a:endParaRPr lang="en-US" sz="1300" dirty="0"/>
          </a:p>
        </p:txBody>
      </p:sp>
      <p:sp>
        <p:nvSpPr>
          <p:cNvPr id="27" name="Text 25"/>
          <p:cNvSpPr txBox="1"/>
          <p:nvPr/>
        </p:nvSpPr>
        <p:spPr>
          <a:xfrm>
            <a:off x="6766560" y="5751576"/>
            <a:ext cx="4526280" cy="228600"/>
          </a:xfrm>
          <a:prstGeom prst="rect">
            <a:avLst/>
          </a:prstGeom>
          <a:noFill/>
          <a:ln/>
        </p:spPr>
        <p:txBody>
          <a:bodyPr wrap="square" lIns="0" tIns="0" rIns="0" bIns="0" rtlCol="0" anchor="ctr"/>
          <a:lstStyle/>
          <a:p>
            <a:pPr indent="0" marL="0">
              <a:buNone/>
            </a:pPr>
            <a:r>
              <a:rPr lang="en-US" sz="950" b="1" spc="100" kern="0" dirty="0">
                <a:solidFill>
                  <a:srgbClr val="0EA5B7"/>
                </a:solidFill>
                <a:latin typeface="Calibri" pitchFamily="34" charset="0"/>
                <a:ea typeface="Calibri" pitchFamily="34" charset="-122"/>
                <a:cs typeface="Calibri" pitchFamily="34" charset="-120"/>
              </a:rPr>
              <a:t>SKILLS ALIGNMENT</a:t>
            </a:r>
            <a:endParaRPr lang="en-US" sz="950" dirty="0"/>
          </a:p>
        </p:txBody>
      </p:sp>
      <p:sp>
        <p:nvSpPr>
          <p:cNvPr id="28" name="Text 26"/>
          <p:cNvSpPr txBox="1"/>
          <p:nvPr/>
        </p:nvSpPr>
        <p:spPr>
          <a:xfrm>
            <a:off x="6766560" y="5971032"/>
            <a:ext cx="4526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NSDC</a:t>
            </a:r>
            <a:endParaRPr lang="en-US" sz="1300" dirty="0"/>
          </a:p>
        </p:txBody>
      </p:sp>
      <p:sp>
        <p:nvSpPr>
          <p:cNvPr id="29" name="Text 27"/>
          <p:cNvSpPr txBox="1"/>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Kumar Swatantra  •  2410030882  •  IILM University, Greater Noida</a:t>
            </a:r>
            <a:endParaRPr lang="en-US" sz="900" dirty="0"/>
          </a:p>
        </p:txBody>
      </p:sp>
      <p:sp>
        <p:nvSpPr>
          <p:cNvPr id="30" name="Text 28"/>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320040"/>
          </a:xfrm>
          <a:prstGeom prst="rect">
            <a:avLst/>
          </a:prstGeom>
          <a:noFill/>
          <a:ln/>
        </p:spPr>
        <p:txBody>
          <a:bodyPr wrap="square" lIns="0" tIns="0" rIns="0" bIns="0" rtlCol="0" anchor="ctr"/>
          <a:lstStyle/>
          <a:p>
            <a:pPr indent="0" marL="0">
              <a:buNone/>
            </a:pPr>
            <a:r>
              <a:rPr lang="en-US" sz="1200" b="1" spc="200" kern="0" dirty="0">
                <a:solidFill>
                  <a:srgbClr val="7A1B2E"/>
                </a:solidFill>
                <a:latin typeface="Calibri" pitchFamily="34" charset="0"/>
                <a:ea typeface="Calibri" pitchFamily="34" charset="-122"/>
                <a:cs typeface="Calibri" pitchFamily="34" charset="-120"/>
              </a:rPr>
              <a:t>SECTION 4.3 – 4.5</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Problem Statement, Objectives &amp; Scope</a:t>
            </a:r>
            <a:endParaRPr lang="en-US" sz="3000" dirty="0"/>
          </a:p>
        </p:txBody>
      </p:sp>
      <p:sp>
        <p:nvSpPr>
          <p:cNvPr id="4" name="Shape 2"/>
          <p:cNvSpPr/>
          <p:nvPr/>
        </p:nvSpPr>
        <p:spPr>
          <a:xfrm>
            <a:off x="548640" y="1508760"/>
            <a:ext cx="3538728" cy="4709160"/>
          </a:xfrm>
          <a:prstGeom prst="roundRect">
            <a:avLst>
              <a:gd name="adj" fmla="val 2067"/>
            </a:avLst>
          </a:prstGeom>
          <a:solidFill>
            <a:srgbClr val="FFFFFF"/>
          </a:solidFill>
          <a:ln w="12700">
            <a:solidFill>
              <a:srgbClr val="DCE3EC"/>
            </a:solidFill>
            <a:prstDash val="solid"/>
          </a:ln>
          <a:effectLst>
            <a:outerShdw sx="100000" sy="100000" kx="0" ky="0" algn="bl" rotWithShape="0" blurRad="101600" dist="25400" dir="5400000">
              <a:srgbClr val="8AA0BE">
                <a:alpha val="25000"/>
              </a:srgbClr>
            </a:outerShdw>
          </a:effectLst>
        </p:spPr>
      </p:sp>
      <p:sp>
        <p:nvSpPr>
          <p:cNvPr id="5" name="Shape 3"/>
          <p:cNvSpPr/>
          <p:nvPr/>
        </p:nvSpPr>
        <p:spPr>
          <a:xfrm>
            <a:off x="841248" y="1801368"/>
            <a:ext cx="457200" cy="457200"/>
          </a:xfrm>
          <a:prstGeom prst="roundRect">
            <a:avLst>
              <a:gd name="adj" fmla="val 1600000"/>
            </a:avLst>
          </a:prstGeom>
          <a:solidFill>
            <a:srgbClr val="0EA5B7"/>
          </a:solidFill>
          <a:ln w="12700">
            <a:solidFill>
              <a:srgbClr val="0EA5B7"/>
            </a:solidFill>
            <a:prstDash val="solid"/>
          </a:ln>
        </p:spPr>
      </p:sp>
      <p:sp>
        <p:nvSpPr>
          <p:cNvPr id="6" name="Text 4"/>
          <p:cNvSpPr txBox="1"/>
          <p:nvPr/>
        </p:nvSpPr>
        <p:spPr>
          <a:xfrm>
            <a:off x="841248"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841248" y="2377440"/>
            <a:ext cx="2990088" cy="228600"/>
          </a:xfrm>
          <a:prstGeom prst="rect">
            <a:avLst/>
          </a:prstGeom>
          <a:noFill/>
          <a:ln/>
        </p:spPr>
        <p:txBody>
          <a:bodyPr wrap="square" lIns="0" tIns="0" rIns="0" bIns="0" rtlCol="0" anchor="ctr"/>
          <a:lstStyle/>
          <a:p>
            <a:pPr indent="0" marL="0">
              <a:buNone/>
            </a:pPr>
            <a:r>
              <a:rPr lang="en-US" sz="950" b="1" spc="100" kern="0" dirty="0">
                <a:solidFill>
                  <a:srgbClr val="7A1B2E"/>
                </a:solidFill>
                <a:latin typeface="Calibri" pitchFamily="34" charset="0"/>
                <a:ea typeface="Calibri" pitchFamily="34" charset="-122"/>
                <a:cs typeface="Calibri" pitchFamily="34" charset="-120"/>
              </a:rPr>
              <a:t>4.3</a:t>
            </a:r>
            <a:endParaRPr lang="en-US" sz="950" dirty="0"/>
          </a:p>
        </p:txBody>
      </p:sp>
      <p:sp>
        <p:nvSpPr>
          <p:cNvPr id="8" name="Text 6"/>
          <p:cNvSpPr txBox="1"/>
          <p:nvPr/>
        </p:nvSpPr>
        <p:spPr>
          <a:xfrm>
            <a:off x="841248" y="2606040"/>
            <a:ext cx="2990088" cy="50292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Problem Statement</a:t>
            </a:r>
            <a:endParaRPr lang="en-US" sz="1600" dirty="0"/>
          </a:p>
        </p:txBody>
      </p:sp>
      <p:sp>
        <p:nvSpPr>
          <p:cNvPr id="9" name="Text 7"/>
          <p:cNvSpPr txBox="1"/>
          <p:nvPr/>
        </p:nvSpPr>
        <p:spPr>
          <a:xfrm>
            <a:off x="841248" y="3200400"/>
            <a:ext cx="2990088" cy="278892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Manual, repetitive front-end tasks slowed feature delivery for the product team.</a:t>
            </a:r>
            <a:endParaRPr lang="en-US" sz="1150" dirty="0"/>
          </a:p>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Needed reusable, component-based UI that could scale across the application.</a:t>
            </a:r>
            <a:endParaRPr lang="en-US" sz="1150" dirty="0"/>
          </a:p>
        </p:txBody>
      </p:sp>
      <p:sp>
        <p:nvSpPr>
          <p:cNvPr id="10" name="Shape 8"/>
          <p:cNvSpPr/>
          <p:nvPr/>
        </p:nvSpPr>
        <p:spPr>
          <a:xfrm>
            <a:off x="4325112" y="1508760"/>
            <a:ext cx="3538728" cy="4709160"/>
          </a:xfrm>
          <a:prstGeom prst="roundRect">
            <a:avLst>
              <a:gd name="adj" fmla="val 2067"/>
            </a:avLst>
          </a:prstGeom>
          <a:solidFill>
            <a:srgbClr val="FFFFFF"/>
          </a:solidFill>
          <a:ln w="12700">
            <a:solidFill>
              <a:srgbClr val="DCE3EC"/>
            </a:solidFill>
            <a:prstDash val="solid"/>
          </a:ln>
          <a:effectLst>
            <a:outerShdw sx="100000" sy="100000" kx="0" ky="0" algn="bl" rotWithShape="0" blurRad="101600" dist="25400" dir="5400000">
              <a:srgbClr val="8AA0BE">
                <a:alpha val="25000"/>
              </a:srgbClr>
            </a:outerShdw>
          </a:effectLst>
        </p:spPr>
      </p:sp>
      <p:sp>
        <p:nvSpPr>
          <p:cNvPr id="11" name="Shape 9"/>
          <p:cNvSpPr/>
          <p:nvPr/>
        </p:nvSpPr>
        <p:spPr>
          <a:xfrm>
            <a:off x="4617720" y="1801368"/>
            <a:ext cx="457200" cy="457200"/>
          </a:xfrm>
          <a:prstGeom prst="roundRect">
            <a:avLst>
              <a:gd name="adj" fmla="val 1600000"/>
            </a:avLst>
          </a:prstGeom>
          <a:solidFill>
            <a:srgbClr val="7A1B2E"/>
          </a:solidFill>
          <a:ln w="12700">
            <a:solidFill>
              <a:srgbClr val="7A1B2E"/>
            </a:solidFill>
            <a:prstDash val="solid"/>
          </a:ln>
        </p:spPr>
      </p:sp>
      <p:sp>
        <p:nvSpPr>
          <p:cNvPr id="12" name="Text 10"/>
          <p:cNvSpPr txBox="1"/>
          <p:nvPr/>
        </p:nvSpPr>
        <p:spPr>
          <a:xfrm>
            <a:off x="4617720"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617720" y="2377440"/>
            <a:ext cx="2990088" cy="228600"/>
          </a:xfrm>
          <a:prstGeom prst="rect">
            <a:avLst/>
          </a:prstGeom>
          <a:noFill/>
          <a:ln/>
        </p:spPr>
        <p:txBody>
          <a:bodyPr wrap="square" lIns="0" tIns="0" rIns="0" bIns="0" rtlCol="0" anchor="ctr"/>
          <a:lstStyle/>
          <a:p>
            <a:pPr indent="0" marL="0">
              <a:buNone/>
            </a:pPr>
            <a:r>
              <a:rPr lang="en-US" sz="950" b="1" spc="100" kern="0" dirty="0">
                <a:solidFill>
                  <a:srgbClr val="7A1B2E"/>
                </a:solidFill>
                <a:latin typeface="Calibri" pitchFamily="34" charset="0"/>
                <a:ea typeface="Calibri" pitchFamily="34" charset="-122"/>
                <a:cs typeface="Calibri" pitchFamily="34" charset="-120"/>
              </a:rPr>
              <a:t>4.4 – 4.5</a:t>
            </a:r>
            <a:endParaRPr lang="en-US" sz="950" dirty="0"/>
          </a:p>
        </p:txBody>
      </p:sp>
      <p:sp>
        <p:nvSpPr>
          <p:cNvPr id="14" name="Text 12"/>
          <p:cNvSpPr txBox="1"/>
          <p:nvPr/>
        </p:nvSpPr>
        <p:spPr>
          <a:xfrm>
            <a:off x="4617720" y="2606040"/>
            <a:ext cx="2990088" cy="50292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Objectives &amp; Scope</a:t>
            </a:r>
            <a:endParaRPr lang="en-US" sz="1600" dirty="0"/>
          </a:p>
        </p:txBody>
      </p:sp>
      <p:sp>
        <p:nvSpPr>
          <p:cNvPr id="15" name="Text 13"/>
          <p:cNvSpPr txBox="1"/>
          <p:nvPr/>
        </p:nvSpPr>
        <p:spPr>
          <a:xfrm>
            <a:off x="4617720" y="3200400"/>
            <a:ext cx="2990088" cy="278892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Build and enhance user-facing features with ReactJS.</a:t>
            </a:r>
            <a:endParaRPr lang="en-US" sz="1150" dirty="0"/>
          </a:p>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Apply component-based design and state management.</a:t>
            </a:r>
            <a:endParaRPr lang="en-US" sz="1150" dirty="0"/>
          </a:p>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Work within the assigned web application module, following existing design and code standards.</a:t>
            </a:r>
            <a:endParaRPr lang="en-US" sz="1150" dirty="0"/>
          </a:p>
        </p:txBody>
      </p:sp>
      <p:sp>
        <p:nvSpPr>
          <p:cNvPr id="16" name="Shape 14"/>
          <p:cNvSpPr/>
          <p:nvPr/>
        </p:nvSpPr>
        <p:spPr>
          <a:xfrm>
            <a:off x="8101584" y="1508760"/>
            <a:ext cx="3538728" cy="4709160"/>
          </a:xfrm>
          <a:prstGeom prst="roundRect">
            <a:avLst>
              <a:gd name="adj" fmla="val 2067"/>
            </a:avLst>
          </a:prstGeom>
          <a:solidFill>
            <a:srgbClr val="FFFFFF"/>
          </a:solidFill>
          <a:ln w="12700">
            <a:solidFill>
              <a:srgbClr val="DCE3EC"/>
            </a:solidFill>
            <a:prstDash val="solid"/>
          </a:ln>
          <a:effectLst>
            <a:outerShdw sx="100000" sy="100000" kx="0" ky="0" algn="bl" rotWithShape="0" blurRad="101600" dist="25400" dir="5400000">
              <a:srgbClr val="8AA0BE">
                <a:alpha val="25000"/>
              </a:srgbClr>
            </a:outerShdw>
          </a:effectLst>
        </p:spPr>
      </p:sp>
      <p:sp>
        <p:nvSpPr>
          <p:cNvPr id="17" name="Shape 15"/>
          <p:cNvSpPr/>
          <p:nvPr/>
        </p:nvSpPr>
        <p:spPr>
          <a:xfrm>
            <a:off x="8394192" y="1801368"/>
            <a:ext cx="457200" cy="457200"/>
          </a:xfrm>
          <a:prstGeom prst="roundRect">
            <a:avLst>
              <a:gd name="adj" fmla="val 1600000"/>
            </a:avLst>
          </a:prstGeom>
          <a:solidFill>
            <a:srgbClr val="0EA5B7"/>
          </a:solidFill>
          <a:ln w="12700">
            <a:solidFill>
              <a:srgbClr val="0EA5B7"/>
            </a:solidFill>
            <a:prstDash val="solid"/>
          </a:ln>
        </p:spPr>
      </p:sp>
      <p:sp>
        <p:nvSpPr>
          <p:cNvPr id="18" name="Text 16"/>
          <p:cNvSpPr txBox="1"/>
          <p:nvPr/>
        </p:nvSpPr>
        <p:spPr>
          <a:xfrm>
            <a:off x="8394192" y="1801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394192" y="2377440"/>
            <a:ext cx="2990088" cy="228600"/>
          </a:xfrm>
          <a:prstGeom prst="rect">
            <a:avLst/>
          </a:prstGeom>
          <a:noFill/>
          <a:ln/>
        </p:spPr>
        <p:txBody>
          <a:bodyPr wrap="square" lIns="0" tIns="0" rIns="0" bIns="0" rtlCol="0" anchor="ctr"/>
          <a:lstStyle/>
          <a:p>
            <a:pPr indent="0" marL="0">
              <a:buNone/>
            </a:pPr>
            <a:r>
              <a:rPr lang="en-US" sz="950" b="1" spc="100" kern="0" dirty="0">
                <a:solidFill>
                  <a:srgbClr val="7A1B2E"/>
                </a:solidFill>
                <a:latin typeface="Calibri" pitchFamily="34" charset="0"/>
                <a:ea typeface="Calibri" pitchFamily="34" charset="-122"/>
                <a:cs typeface="Calibri" pitchFamily="34" charset="-120"/>
              </a:rPr>
              <a:t>APPROACH</a:t>
            </a:r>
            <a:endParaRPr lang="en-US" sz="950" dirty="0"/>
          </a:p>
        </p:txBody>
      </p:sp>
      <p:sp>
        <p:nvSpPr>
          <p:cNvPr id="20" name="Text 18"/>
          <p:cNvSpPr txBox="1"/>
          <p:nvPr/>
        </p:nvSpPr>
        <p:spPr>
          <a:xfrm>
            <a:off x="8394192" y="2606040"/>
            <a:ext cx="2990088" cy="502920"/>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Guiding Principles</a:t>
            </a:r>
            <a:endParaRPr lang="en-US" sz="1600" dirty="0"/>
          </a:p>
        </p:txBody>
      </p:sp>
      <p:sp>
        <p:nvSpPr>
          <p:cNvPr id="21" name="Text 19"/>
          <p:cNvSpPr txBox="1"/>
          <p:nvPr/>
        </p:nvSpPr>
        <p:spPr>
          <a:xfrm>
            <a:off x="8394192" y="3200400"/>
            <a:ext cx="2990088" cy="278892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Write clean, maintainable, reusable code.</a:t>
            </a:r>
            <a:endParaRPr lang="en-US" sz="1150" dirty="0"/>
          </a:p>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Collaborate using version control (Git/GitHub).</a:t>
            </a:r>
            <a:endParaRPr lang="en-US" sz="1150" dirty="0"/>
          </a:p>
          <a:p>
            <a:pPr marL="342900" indent="-342900">
              <a:lnSpc>
                <a:spcPct val="120000"/>
              </a:lnSpc>
              <a:spcAft>
                <a:spcPts val="800"/>
              </a:spcAft>
              <a:buSzPct val="100000"/>
              <a:buChar char="•"/>
            </a:pPr>
            <a:r>
              <a:rPr lang="en-US" sz="1150" dirty="0">
                <a:solidFill>
                  <a:srgbClr val="5B6472"/>
                </a:solidFill>
                <a:latin typeface="Calibri" pitchFamily="34" charset="0"/>
                <a:ea typeface="Calibri" pitchFamily="34" charset="-122"/>
                <a:cs typeface="Calibri" pitchFamily="34" charset="-120"/>
              </a:rPr>
              <a:t>Test and refine features against feedback before merging.</a:t>
            </a:r>
            <a:endParaRPr lang="en-US" sz="1150" dirty="0"/>
          </a:p>
        </p:txBody>
      </p:sp>
      <p:sp>
        <p:nvSpPr>
          <p:cNvPr id="22" name="Text 20"/>
          <p:cNvSpPr txBox="1"/>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Kumar Swatantra  •  2410030882  •  IILM University, Greater Noida</a:t>
            </a:r>
            <a:endParaRPr lang="en-US" sz="900" dirty="0"/>
          </a:p>
        </p:txBody>
      </p:sp>
      <p:sp>
        <p:nvSpPr>
          <p:cNvPr id="23" name="Text 21"/>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320040"/>
          </a:xfrm>
          <a:prstGeom prst="rect">
            <a:avLst/>
          </a:prstGeom>
          <a:noFill/>
          <a:ln/>
        </p:spPr>
        <p:txBody>
          <a:bodyPr wrap="square" lIns="0" tIns="0" rIns="0" bIns="0" rtlCol="0" anchor="ctr"/>
          <a:lstStyle/>
          <a:p>
            <a:pPr indent="0" marL="0">
              <a:buNone/>
            </a:pPr>
            <a:r>
              <a:rPr lang="en-US" sz="1200" b="1" spc="200" kern="0" dirty="0">
                <a:solidFill>
                  <a:srgbClr val="7A1B2E"/>
                </a:solidFill>
                <a:latin typeface="Calibri" pitchFamily="34" charset="0"/>
                <a:ea typeface="Calibri" pitchFamily="34" charset="-122"/>
                <a:cs typeface="Calibri" pitchFamily="34" charset="-120"/>
              </a:rPr>
              <a:t>SECTION 4.6 – 4.8</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Technologies, Tools &amp; Methodology</a:t>
            </a:r>
            <a:endParaRPr lang="en-US" sz="3000" dirty="0"/>
          </a:p>
        </p:txBody>
      </p:sp>
      <p:sp>
        <p:nvSpPr>
          <p:cNvPr id="4" name="Text 2"/>
          <p:cNvSpPr txBox="1"/>
          <p:nvPr/>
        </p:nvSpPr>
        <p:spPr>
          <a:xfrm>
            <a:off x="548640" y="1463040"/>
            <a:ext cx="5486400" cy="365760"/>
          </a:xfrm>
          <a:prstGeom prst="rect">
            <a:avLst/>
          </a:prstGeom>
          <a:noFill/>
          <a:ln/>
        </p:spPr>
        <p:txBody>
          <a:bodyPr wrap="square" lIns="0" tIns="0" rIns="0" bIns="0" rtlCol="0" anchor="ctr"/>
          <a:lstStyle/>
          <a:p>
            <a:pPr indent="0" marL="0">
              <a:buNone/>
            </a:pPr>
            <a:r>
              <a:rPr lang="en-US" sz="1700" b="1" dirty="0">
                <a:solidFill>
                  <a:srgbClr val="7A1B2E"/>
                </a:solidFill>
                <a:latin typeface="Cambria" pitchFamily="34" charset="0"/>
                <a:ea typeface="Cambria" pitchFamily="34" charset="-122"/>
                <a:cs typeface="Cambria" pitchFamily="34" charset="-120"/>
              </a:rPr>
              <a:t>4.6  Technologies &amp; Tools Used</a:t>
            </a:r>
            <a:endParaRPr lang="en-US" sz="1700" dirty="0"/>
          </a:p>
        </p:txBody>
      </p:sp>
      <p:sp>
        <p:nvSpPr>
          <p:cNvPr id="5" name="Shape 3"/>
          <p:cNvSpPr/>
          <p:nvPr/>
        </p:nvSpPr>
        <p:spPr>
          <a:xfrm>
            <a:off x="548640" y="1965960"/>
            <a:ext cx="260604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76200" dist="25400" dir="5400000">
              <a:srgbClr val="8AA0BE">
                <a:alpha val="20000"/>
              </a:srgbClr>
            </a:outerShdw>
          </a:effectLst>
        </p:spPr>
      </p:sp>
      <p:sp>
        <p:nvSpPr>
          <p:cNvPr id="6" name="Shape 4"/>
          <p:cNvSpPr/>
          <p:nvPr/>
        </p:nvSpPr>
        <p:spPr>
          <a:xfrm>
            <a:off x="749808" y="2167128"/>
            <a:ext cx="320040" cy="320040"/>
          </a:xfrm>
          <a:prstGeom prst="roundRect">
            <a:avLst>
              <a:gd name="adj" fmla="val 17143"/>
            </a:avLst>
          </a:prstGeom>
          <a:solidFill>
            <a:srgbClr val="0EA5B7"/>
          </a:solidFill>
          <a:ln w="12700">
            <a:solidFill>
              <a:srgbClr val="0EA5B7"/>
            </a:solidFill>
            <a:prstDash val="solid"/>
          </a:ln>
        </p:spPr>
      </p:sp>
      <p:sp>
        <p:nvSpPr>
          <p:cNvPr id="7" name="Text 5"/>
          <p:cNvSpPr txBox="1"/>
          <p:nvPr/>
        </p:nvSpPr>
        <p:spPr>
          <a:xfrm>
            <a:off x="749808" y="2514600"/>
            <a:ext cx="2240280" cy="36576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ReactJS</a:t>
            </a:r>
            <a:endParaRPr lang="en-US" sz="1300" dirty="0"/>
          </a:p>
        </p:txBody>
      </p:sp>
      <p:sp>
        <p:nvSpPr>
          <p:cNvPr id="8" name="Shape 6"/>
          <p:cNvSpPr/>
          <p:nvPr/>
        </p:nvSpPr>
        <p:spPr>
          <a:xfrm>
            <a:off x="3383280" y="1965960"/>
            <a:ext cx="260604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76200" dist="25400" dir="5400000">
              <a:srgbClr val="8AA0BE">
                <a:alpha val="20000"/>
              </a:srgbClr>
            </a:outerShdw>
          </a:effectLst>
        </p:spPr>
      </p:sp>
      <p:sp>
        <p:nvSpPr>
          <p:cNvPr id="9" name="Shape 7"/>
          <p:cNvSpPr/>
          <p:nvPr/>
        </p:nvSpPr>
        <p:spPr>
          <a:xfrm>
            <a:off x="3584448" y="2167128"/>
            <a:ext cx="320040" cy="320040"/>
          </a:xfrm>
          <a:prstGeom prst="roundRect">
            <a:avLst>
              <a:gd name="adj" fmla="val 17143"/>
            </a:avLst>
          </a:prstGeom>
          <a:solidFill>
            <a:srgbClr val="0EA5B7"/>
          </a:solidFill>
          <a:ln w="12700">
            <a:solidFill>
              <a:srgbClr val="0EA5B7"/>
            </a:solidFill>
            <a:prstDash val="solid"/>
          </a:ln>
        </p:spPr>
      </p:sp>
      <p:sp>
        <p:nvSpPr>
          <p:cNvPr id="10" name="Text 8"/>
          <p:cNvSpPr txBox="1"/>
          <p:nvPr/>
        </p:nvSpPr>
        <p:spPr>
          <a:xfrm>
            <a:off x="3584448" y="2514600"/>
            <a:ext cx="2240280" cy="36576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JavaScript (ES6+)</a:t>
            </a:r>
            <a:endParaRPr lang="en-US" sz="1300" dirty="0"/>
          </a:p>
        </p:txBody>
      </p:sp>
      <p:sp>
        <p:nvSpPr>
          <p:cNvPr id="11" name="Shape 9"/>
          <p:cNvSpPr/>
          <p:nvPr/>
        </p:nvSpPr>
        <p:spPr>
          <a:xfrm>
            <a:off x="548640" y="3200400"/>
            <a:ext cx="260604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76200" dist="25400" dir="5400000">
              <a:srgbClr val="8AA0BE">
                <a:alpha val="20000"/>
              </a:srgbClr>
            </a:outerShdw>
          </a:effectLst>
        </p:spPr>
      </p:sp>
      <p:sp>
        <p:nvSpPr>
          <p:cNvPr id="12" name="Shape 10"/>
          <p:cNvSpPr/>
          <p:nvPr/>
        </p:nvSpPr>
        <p:spPr>
          <a:xfrm>
            <a:off x="749808" y="3401568"/>
            <a:ext cx="320040" cy="320040"/>
          </a:xfrm>
          <a:prstGeom prst="roundRect">
            <a:avLst>
              <a:gd name="adj" fmla="val 17143"/>
            </a:avLst>
          </a:prstGeom>
          <a:solidFill>
            <a:srgbClr val="0EA5B7"/>
          </a:solidFill>
          <a:ln w="12700">
            <a:solidFill>
              <a:srgbClr val="0EA5B7"/>
            </a:solidFill>
            <a:prstDash val="solid"/>
          </a:ln>
        </p:spPr>
      </p:sp>
      <p:sp>
        <p:nvSpPr>
          <p:cNvPr id="13" name="Text 11"/>
          <p:cNvSpPr txBox="1"/>
          <p:nvPr/>
        </p:nvSpPr>
        <p:spPr>
          <a:xfrm>
            <a:off x="749808" y="3749040"/>
            <a:ext cx="2240280" cy="36576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HTML5 / CSS3</a:t>
            </a:r>
            <a:endParaRPr lang="en-US" sz="1300" dirty="0"/>
          </a:p>
        </p:txBody>
      </p:sp>
      <p:sp>
        <p:nvSpPr>
          <p:cNvPr id="14" name="Shape 12"/>
          <p:cNvSpPr/>
          <p:nvPr/>
        </p:nvSpPr>
        <p:spPr>
          <a:xfrm>
            <a:off x="3383280" y="3200400"/>
            <a:ext cx="2606040" cy="1005840"/>
          </a:xfrm>
          <a:prstGeom prst="roundRect">
            <a:avLst>
              <a:gd name="adj" fmla="val 7273"/>
            </a:avLst>
          </a:prstGeom>
          <a:solidFill>
            <a:srgbClr val="FFFFFF"/>
          </a:solidFill>
          <a:ln w="12700">
            <a:solidFill>
              <a:srgbClr val="DCE3EC"/>
            </a:solidFill>
            <a:prstDash val="solid"/>
          </a:ln>
          <a:effectLst>
            <a:outerShdw sx="100000" sy="100000" kx="0" ky="0" algn="bl" rotWithShape="0" blurRad="76200" dist="25400" dir="5400000">
              <a:srgbClr val="8AA0BE">
                <a:alpha val="20000"/>
              </a:srgbClr>
            </a:outerShdw>
          </a:effectLst>
        </p:spPr>
      </p:sp>
      <p:sp>
        <p:nvSpPr>
          <p:cNvPr id="15" name="Shape 13"/>
          <p:cNvSpPr/>
          <p:nvPr/>
        </p:nvSpPr>
        <p:spPr>
          <a:xfrm>
            <a:off x="3584448" y="3401568"/>
            <a:ext cx="320040" cy="320040"/>
          </a:xfrm>
          <a:prstGeom prst="roundRect">
            <a:avLst>
              <a:gd name="adj" fmla="val 17143"/>
            </a:avLst>
          </a:prstGeom>
          <a:solidFill>
            <a:srgbClr val="0EA5B7"/>
          </a:solidFill>
          <a:ln w="12700">
            <a:solidFill>
              <a:srgbClr val="0EA5B7"/>
            </a:solidFill>
            <a:prstDash val="solid"/>
          </a:ln>
        </p:spPr>
      </p:sp>
      <p:sp>
        <p:nvSpPr>
          <p:cNvPr id="16" name="Text 14"/>
          <p:cNvSpPr txBox="1"/>
          <p:nvPr/>
        </p:nvSpPr>
        <p:spPr>
          <a:xfrm>
            <a:off x="3584448" y="3749040"/>
            <a:ext cx="2240280" cy="36576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Git &amp; GitHub</a:t>
            </a:r>
            <a:endParaRPr lang="en-US" sz="1300" dirty="0"/>
          </a:p>
        </p:txBody>
      </p:sp>
      <p:sp>
        <p:nvSpPr>
          <p:cNvPr id="17" name="Text 15"/>
          <p:cNvSpPr txBox="1"/>
          <p:nvPr/>
        </p:nvSpPr>
        <p:spPr>
          <a:xfrm>
            <a:off x="6400800" y="1463040"/>
            <a:ext cx="5257800" cy="365760"/>
          </a:xfrm>
          <a:prstGeom prst="rect">
            <a:avLst/>
          </a:prstGeom>
          <a:noFill/>
          <a:ln/>
        </p:spPr>
        <p:txBody>
          <a:bodyPr wrap="square" lIns="0" tIns="0" rIns="0" bIns="0" rtlCol="0" anchor="ctr"/>
          <a:lstStyle/>
          <a:p>
            <a:pPr indent="0" marL="0">
              <a:buNone/>
            </a:pPr>
            <a:r>
              <a:rPr lang="en-US" sz="1700" b="1" dirty="0">
                <a:solidFill>
                  <a:srgbClr val="7A1B2E"/>
                </a:solidFill>
                <a:latin typeface="Cambria" pitchFamily="34" charset="0"/>
                <a:ea typeface="Cambria" pitchFamily="34" charset="-122"/>
                <a:cs typeface="Cambria" pitchFamily="34" charset="-120"/>
              </a:rPr>
              <a:t>4.8  Methodology</a:t>
            </a:r>
            <a:endParaRPr lang="en-US" sz="1700" dirty="0"/>
          </a:p>
        </p:txBody>
      </p:sp>
      <p:sp>
        <p:nvSpPr>
          <p:cNvPr id="18" name="Shape 16"/>
          <p:cNvSpPr/>
          <p:nvPr/>
        </p:nvSpPr>
        <p:spPr>
          <a:xfrm>
            <a:off x="6400800" y="1965960"/>
            <a:ext cx="384048" cy="384048"/>
          </a:xfrm>
          <a:prstGeom prst="roundRect">
            <a:avLst>
              <a:gd name="adj" fmla="val 50000"/>
            </a:avLst>
          </a:prstGeom>
          <a:solidFill>
            <a:srgbClr val="13233F"/>
          </a:solidFill>
          <a:ln w="12700">
            <a:solidFill>
              <a:srgbClr val="13233F"/>
            </a:solidFill>
            <a:prstDash val="solid"/>
          </a:ln>
        </p:spPr>
      </p:sp>
      <p:sp>
        <p:nvSpPr>
          <p:cNvPr id="19" name="Text 17"/>
          <p:cNvSpPr txBox="1"/>
          <p:nvPr/>
        </p:nvSpPr>
        <p:spPr>
          <a:xfrm>
            <a:off x="640080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Shape 18"/>
          <p:cNvSpPr/>
          <p:nvPr/>
        </p:nvSpPr>
        <p:spPr>
          <a:xfrm>
            <a:off x="6592824" y="2350008"/>
            <a:ext cx="0" cy="548640"/>
          </a:xfrm>
          <a:prstGeom prst="line">
            <a:avLst/>
          </a:prstGeom>
          <a:noFill/>
          <a:ln w="19050">
            <a:solidFill>
              <a:srgbClr val="C6D2E2"/>
            </a:solidFill>
            <a:prstDash val="solid"/>
          </a:ln>
        </p:spPr>
      </p:sp>
      <p:sp>
        <p:nvSpPr>
          <p:cNvPr id="21" name="Text 19"/>
          <p:cNvSpPr txBox="1"/>
          <p:nvPr/>
        </p:nvSpPr>
        <p:spPr>
          <a:xfrm>
            <a:off x="6949440" y="1938528"/>
            <a:ext cx="46634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Plan</a:t>
            </a:r>
            <a:endParaRPr lang="en-US" sz="1400" dirty="0"/>
          </a:p>
        </p:txBody>
      </p:sp>
      <p:sp>
        <p:nvSpPr>
          <p:cNvPr id="22" name="Text 20"/>
          <p:cNvSpPr txBox="1"/>
          <p:nvPr/>
        </p:nvSpPr>
        <p:spPr>
          <a:xfrm>
            <a:off x="6949440" y="2212848"/>
            <a:ext cx="4663440" cy="50292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Requirements reviewed and broken into short, sprint-style tasks.</a:t>
            </a:r>
            <a:endParaRPr lang="en-US" sz="1150" dirty="0"/>
          </a:p>
        </p:txBody>
      </p:sp>
      <p:sp>
        <p:nvSpPr>
          <p:cNvPr id="23" name="Shape 21"/>
          <p:cNvSpPr/>
          <p:nvPr/>
        </p:nvSpPr>
        <p:spPr>
          <a:xfrm>
            <a:off x="6400800" y="2898648"/>
            <a:ext cx="384048" cy="384048"/>
          </a:xfrm>
          <a:prstGeom prst="roundRect">
            <a:avLst>
              <a:gd name="adj" fmla="val 50000"/>
            </a:avLst>
          </a:prstGeom>
          <a:solidFill>
            <a:srgbClr val="13233F"/>
          </a:solidFill>
          <a:ln w="12700">
            <a:solidFill>
              <a:srgbClr val="13233F"/>
            </a:solidFill>
            <a:prstDash val="solid"/>
          </a:ln>
        </p:spPr>
      </p:sp>
      <p:sp>
        <p:nvSpPr>
          <p:cNvPr id="24" name="Text 22"/>
          <p:cNvSpPr txBox="1"/>
          <p:nvPr/>
        </p:nvSpPr>
        <p:spPr>
          <a:xfrm>
            <a:off x="640080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Shape 23"/>
          <p:cNvSpPr/>
          <p:nvPr/>
        </p:nvSpPr>
        <p:spPr>
          <a:xfrm>
            <a:off x="6592824" y="3282696"/>
            <a:ext cx="0" cy="548640"/>
          </a:xfrm>
          <a:prstGeom prst="line">
            <a:avLst/>
          </a:prstGeom>
          <a:noFill/>
          <a:ln w="19050">
            <a:solidFill>
              <a:srgbClr val="C6D2E2"/>
            </a:solidFill>
            <a:prstDash val="solid"/>
          </a:ln>
        </p:spPr>
      </p:sp>
      <p:sp>
        <p:nvSpPr>
          <p:cNvPr id="26" name="Text 24"/>
          <p:cNvSpPr txBox="1"/>
          <p:nvPr/>
        </p:nvSpPr>
        <p:spPr>
          <a:xfrm>
            <a:off x="6949440" y="2871216"/>
            <a:ext cx="46634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Build</a:t>
            </a:r>
            <a:endParaRPr lang="en-US" sz="1400" dirty="0"/>
          </a:p>
        </p:txBody>
      </p:sp>
      <p:sp>
        <p:nvSpPr>
          <p:cNvPr id="27" name="Text 25"/>
          <p:cNvSpPr txBox="1"/>
          <p:nvPr/>
        </p:nvSpPr>
        <p:spPr>
          <a:xfrm>
            <a:off x="6949440" y="3145536"/>
            <a:ext cx="4663440" cy="50292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Features developed iteratively with reusable React components.</a:t>
            </a:r>
            <a:endParaRPr lang="en-US" sz="1150" dirty="0"/>
          </a:p>
        </p:txBody>
      </p:sp>
      <p:sp>
        <p:nvSpPr>
          <p:cNvPr id="28" name="Shape 26"/>
          <p:cNvSpPr/>
          <p:nvPr/>
        </p:nvSpPr>
        <p:spPr>
          <a:xfrm>
            <a:off x="6400800" y="3831336"/>
            <a:ext cx="384048" cy="384048"/>
          </a:xfrm>
          <a:prstGeom prst="roundRect">
            <a:avLst>
              <a:gd name="adj" fmla="val 50000"/>
            </a:avLst>
          </a:prstGeom>
          <a:solidFill>
            <a:srgbClr val="13233F"/>
          </a:solidFill>
          <a:ln w="12700">
            <a:solidFill>
              <a:srgbClr val="13233F"/>
            </a:solidFill>
            <a:prstDash val="solid"/>
          </a:ln>
        </p:spPr>
      </p:sp>
      <p:sp>
        <p:nvSpPr>
          <p:cNvPr id="29" name="Text 27"/>
          <p:cNvSpPr txBox="1"/>
          <p:nvPr/>
        </p:nvSpPr>
        <p:spPr>
          <a:xfrm>
            <a:off x="6400800" y="3831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Shape 28"/>
          <p:cNvSpPr/>
          <p:nvPr/>
        </p:nvSpPr>
        <p:spPr>
          <a:xfrm>
            <a:off x="6592824" y="4215384"/>
            <a:ext cx="0" cy="548640"/>
          </a:xfrm>
          <a:prstGeom prst="line">
            <a:avLst/>
          </a:prstGeom>
          <a:noFill/>
          <a:ln w="19050">
            <a:solidFill>
              <a:srgbClr val="C6D2E2"/>
            </a:solidFill>
            <a:prstDash val="solid"/>
          </a:ln>
        </p:spPr>
      </p:sp>
      <p:sp>
        <p:nvSpPr>
          <p:cNvPr id="31" name="Text 29"/>
          <p:cNvSpPr txBox="1"/>
          <p:nvPr/>
        </p:nvSpPr>
        <p:spPr>
          <a:xfrm>
            <a:off x="6949440" y="3803904"/>
            <a:ext cx="46634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Version &amp; Review</a:t>
            </a:r>
            <a:endParaRPr lang="en-US" sz="1400" dirty="0"/>
          </a:p>
        </p:txBody>
      </p:sp>
      <p:sp>
        <p:nvSpPr>
          <p:cNvPr id="32" name="Text 30"/>
          <p:cNvSpPr txBox="1"/>
          <p:nvPr/>
        </p:nvSpPr>
        <p:spPr>
          <a:xfrm>
            <a:off x="6949440" y="4078224"/>
            <a:ext cx="4663440" cy="50292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Code tracked via Git/GitHub; changes reviewed before merging.</a:t>
            </a:r>
            <a:endParaRPr lang="en-US" sz="1150" dirty="0"/>
          </a:p>
        </p:txBody>
      </p:sp>
      <p:sp>
        <p:nvSpPr>
          <p:cNvPr id="33" name="Shape 31"/>
          <p:cNvSpPr/>
          <p:nvPr/>
        </p:nvSpPr>
        <p:spPr>
          <a:xfrm>
            <a:off x="6400800" y="4764024"/>
            <a:ext cx="384048" cy="384048"/>
          </a:xfrm>
          <a:prstGeom prst="roundRect">
            <a:avLst>
              <a:gd name="adj" fmla="val 50000"/>
            </a:avLst>
          </a:prstGeom>
          <a:solidFill>
            <a:srgbClr val="13233F"/>
          </a:solidFill>
          <a:ln w="12700">
            <a:solidFill>
              <a:srgbClr val="13233F"/>
            </a:solidFill>
            <a:prstDash val="solid"/>
          </a:ln>
        </p:spPr>
      </p:sp>
      <p:sp>
        <p:nvSpPr>
          <p:cNvPr id="34" name="Text 32"/>
          <p:cNvSpPr txBox="1"/>
          <p:nvPr/>
        </p:nvSpPr>
        <p:spPr>
          <a:xfrm>
            <a:off x="6400800" y="4764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3"/>
          <p:cNvSpPr txBox="1"/>
          <p:nvPr/>
        </p:nvSpPr>
        <p:spPr>
          <a:xfrm>
            <a:off x="6949440" y="4736592"/>
            <a:ext cx="4663440" cy="29260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Refine</a:t>
            </a:r>
            <a:endParaRPr lang="en-US" sz="1400" dirty="0"/>
          </a:p>
        </p:txBody>
      </p:sp>
      <p:sp>
        <p:nvSpPr>
          <p:cNvPr id="36" name="Text 34"/>
          <p:cNvSpPr txBox="1"/>
          <p:nvPr/>
        </p:nvSpPr>
        <p:spPr>
          <a:xfrm>
            <a:off x="6949440" y="5010912"/>
            <a:ext cx="4663440" cy="502920"/>
          </a:xfrm>
          <a:prstGeom prst="rect">
            <a:avLst/>
          </a:prstGeom>
          <a:noFill/>
          <a:ln/>
        </p:spPr>
        <p:txBody>
          <a:bodyPr wrap="square" lIns="0" tIns="0" rIns="0" bIns="0" rtlCol="0" anchor="ctr"/>
          <a:lstStyle/>
          <a:p>
            <a:pPr indent="0" marL="0">
              <a:lnSpc>
                <a:spcPct val="115000"/>
              </a:lnSpc>
              <a:buNone/>
            </a:pPr>
            <a:r>
              <a:rPr lang="en-US" sz="1150" dirty="0">
                <a:solidFill>
                  <a:srgbClr val="5B6472"/>
                </a:solidFill>
                <a:latin typeface="Calibri" pitchFamily="34" charset="0"/>
                <a:ea typeface="Calibri" pitchFamily="34" charset="-122"/>
                <a:cs typeface="Calibri" pitchFamily="34" charset="-120"/>
              </a:rPr>
              <a:t>Features tested and refined based on feedback (Agile approach).</a:t>
            </a:r>
            <a:endParaRPr lang="en-US" sz="1150" dirty="0"/>
          </a:p>
        </p:txBody>
      </p:sp>
      <p:sp>
        <p:nvSpPr>
          <p:cNvPr id="37" name="Text 35"/>
          <p:cNvSpPr txBox="1"/>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Kumar Swatantra  •  2410030882  •  IILM University, Greater Noida</a:t>
            </a:r>
            <a:endParaRPr lang="en-US" sz="900" dirty="0"/>
          </a:p>
        </p:txBody>
      </p:sp>
      <p:sp>
        <p:nvSpPr>
          <p:cNvPr id="38" name="Text 36"/>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548640" y="320040"/>
            <a:ext cx="5486400" cy="320040"/>
          </a:xfrm>
          <a:prstGeom prst="rect">
            <a:avLst/>
          </a:prstGeom>
          <a:noFill/>
          <a:ln/>
        </p:spPr>
        <p:txBody>
          <a:bodyPr wrap="square" lIns="0" tIns="0" rIns="0" bIns="0" rtlCol="0" anchor="ctr"/>
          <a:lstStyle/>
          <a:p>
            <a:pPr indent="0" marL="0">
              <a:buNone/>
            </a:pPr>
            <a:r>
              <a:rPr lang="en-US" sz="1200" b="1" spc="200" kern="0" dirty="0">
                <a:solidFill>
                  <a:srgbClr val="7A1B2E"/>
                </a:solidFill>
                <a:latin typeface="Calibri" pitchFamily="34" charset="0"/>
                <a:ea typeface="Calibri" pitchFamily="34" charset="-122"/>
                <a:cs typeface="Calibri" pitchFamily="34" charset="-120"/>
              </a:rPr>
              <a:t>SECTION 4.9</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Expected Outcomes</a:t>
            </a:r>
            <a:endParaRPr lang="en-US" sz="3000" dirty="0"/>
          </a:p>
        </p:txBody>
      </p:sp>
      <p:sp>
        <p:nvSpPr>
          <p:cNvPr id="4" name="Shape 2"/>
          <p:cNvSpPr/>
          <p:nvPr/>
        </p:nvSpPr>
        <p:spPr>
          <a:xfrm>
            <a:off x="548640" y="1508760"/>
            <a:ext cx="5349240" cy="2057400"/>
          </a:xfrm>
          <a:prstGeom prst="roundRect">
            <a:avLst>
              <a:gd name="adj" fmla="val 3556"/>
            </a:avLst>
          </a:prstGeom>
          <a:solidFill>
            <a:srgbClr val="FFFFFF"/>
          </a:solidFill>
          <a:ln w="12700">
            <a:solidFill>
              <a:srgbClr val="DCE3EC"/>
            </a:solidFill>
            <a:prstDash val="solid"/>
          </a:ln>
          <a:effectLst>
            <a:outerShdw sx="100000" sy="100000" kx="0" ky="0" algn="bl" rotWithShape="0" blurRad="88900" dist="25400" dir="5400000">
              <a:srgbClr val="8AA0BE">
                <a:alpha val="22000"/>
              </a:srgbClr>
            </a:outerShdw>
          </a:effectLst>
        </p:spPr>
      </p:sp>
      <p:sp>
        <p:nvSpPr>
          <p:cNvPr id="5" name="Shape 3"/>
          <p:cNvSpPr/>
          <p:nvPr/>
        </p:nvSpPr>
        <p:spPr>
          <a:xfrm>
            <a:off x="822960" y="1783080"/>
            <a:ext cx="420624" cy="420624"/>
          </a:xfrm>
          <a:prstGeom prst="roundRect">
            <a:avLst>
              <a:gd name="adj" fmla="val 50000"/>
            </a:avLst>
          </a:prstGeom>
          <a:solidFill>
            <a:srgbClr val="0EA5B7"/>
          </a:solidFill>
          <a:ln w="12700">
            <a:solidFill>
              <a:srgbClr val="0EA5B7"/>
            </a:solidFill>
            <a:prstDash val="solid"/>
          </a:ln>
        </p:spPr>
      </p:sp>
      <p:sp>
        <p:nvSpPr>
          <p:cNvPr id="6" name="Text 4"/>
          <p:cNvSpPr txBox="1"/>
          <p:nvPr/>
        </p:nvSpPr>
        <p:spPr>
          <a:xfrm>
            <a:off x="822960" y="1783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22960" y="2331720"/>
            <a:ext cx="48006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Practical React Proficiency</a:t>
            </a:r>
            <a:endParaRPr lang="en-US" sz="1500" dirty="0"/>
          </a:p>
        </p:txBody>
      </p:sp>
      <p:sp>
        <p:nvSpPr>
          <p:cNvPr id="8" name="Text 6"/>
          <p:cNvSpPr txBox="1"/>
          <p:nvPr/>
        </p:nvSpPr>
        <p:spPr>
          <a:xfrm>
            <a:off x="822960" y="2697480"/>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Stronger hands-on command of ReactJS, component design, and state handling.</a:t>
            </a:r>
            <a:endParaRPr lang="en-US" sz="1200" dirty="0"/>
          </a:p>
        </p:txBody>
      </p:sp>
      <p:sp>
        <p:nvSpPr>
          <p:cNvPr id="9" name="Shape 7"/>
          <p:cNvSpPr/>
          <p:nvPr/>
        </p:nvSpPr>
        <p:spPr>
          <a:xfrm>
            <a:off x="6263640" y="1508760"/>
            <a:ext cx="5349240" cy="2057400"/>
          </a:xfrm>
          <a:prstGeom prst="roundRect">
            <a:avLst>
              <a:gd name="adj" fmla="val 3556"/>
            </a:avLst>
          </a:prstGeom>
          <a:solidFill>
            <a:srgbClr val="FFFFFF"/>
          </a:solidFill>
          <a:ln w="12700">
            <a:solidFill>
              <a:srgbClr val="DCE3EC"/>
            </a:solidFill>
            <a:prstDash val="solid"/>
          </a:ln>
          <a:effectLst>
            <a:outerShdw sx="100000" sy="100000" kx="0" ky="0" algn="bl" rotWithShape="0" blurRad="88900" dist="25400" dir="5400000">
              <a:srgbClr val="8AA0BE">
                <a:alpha val="22000"/>
              </a:srgbClr>
            </a:outerShdw>
          </a:effectLst>
        </p:spPr>
      </p:sp>
      <p:sp>
        <p:nvSpPr>
          <p:cNvPr id="10" name="Shape 8"/>
          <p:cNvSpPr/>
          <p:nvPr/>
        </p:nvSpPr>
        <p:spPr>
          <a:xfrm>
            <a:off x="6537960" y="1783080"/>
            <a:ext cx="420624" cy="420624"/>
          </a:xfrm>
          <a:prstGeom prst="roundRect">
            <a:avLst>
              <a:gd name="adj" fmla="val 50000"/>
            </a:avLst>
          </a:prstGeom>
          <a:solidFill>
            <a:srgbClr val="0EA5B7"/>
          </a:solidFill>
          <a:ln w="12700">
            <a:solidFill>
              <a:srgbClr val="0EA5B7"/>
            </a:solidFill>
            <a:prstDash val="solid"/>
          </a:ln>
        </p:spPr>
      </p:sp>
      <p:sp>
        <p:nvSpPr>
          <p:cNvPr id="11" name="Text 9"/>
          <p:cNvSpPr txBox="1"/>
          <p:nvPr/>
        </p:nvSpPr>
        <p:spPr>
          <a:xfrm>
            <a:off x="6537960" y="17830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6537960" y="2331720"/>
            <a:ext cx="48006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Industry Workflow Exposure</a:t>
            </a:r>
            <a:endParaRPr lang="en-US" sz="1500" dirty="0"/>
          </a:p>
        </p:txBody>
      </p:sp>
      <p:sp>
        <p:nvSpPr>
          <p:cNvPr id="13" name="Text 11"/>
          <p:cNvSpPr txBox="1"/>
          <p:nvPr/>
        </p:nvSpPr>
        <p:spPr>
          <a:xfrm>
            <a:off x="6537960" y="2697480"/>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First-hand experience with Git-based collaboration and iterative delivery.</a:t>
            </a:r>
            <a:endParaRPr lang="en-US" sz="1200" dirty="0"/>
          </a:p>
        </p:txBody>
      </p:sp>
      <p:sp>
        <p:nvSpPr>
          <p:cNvPr id="14" name="Shape 12"/>
          <p:cNvSpPr/>
          <p:nvPr/>
        </p:nvSpPr>
        <p:spPr>
          <a:xfrm>
            <a:off x="548640" y="3886200"/>
            <a:ext cx="5349240" cy="2057400"/>
          </a:xfrm>
          <a:prstGeom prst="roundRect">
            <a:avLst>
              <a:gd name="adj" fmla="val 3556"/>
            </a:avLst>
          </a:prstGeom>
          <a:solidFill>
            <a:srgbClr val="FFFFFF"/>
          </a:solidFill>
          <a:ln w="12700">
            <a:solidFill>
              <a:srgbClr val="DCE3EC"/>
            </a:solidFill>
            <a:prstDash val="solid"/>
          </a:ln>
          <a:effectLst>
            <a:outerShdw sx="100000" sy="100000" kx="0" ky="0" algn="bl" rotWithShape="0" blurRad="88900" dist="25400" dir="5400000">
              <a:srgbClr val="8AA0BE">
                <a:alpha val="22000"/>
              </a:srgbClr>
            </a:outerShdw>
          </a:effectLst>
        </p:spPr>
      </p:sp>
      <p:sp>
        <p:nvSpPr>
          <p:cNvPr id="15" name="Shape 13"/>
          <p:cNvSpPr/>
          <p:nvPr/>
        </p:nvSpPr>
        <p:spPr>
          <a:xfrm>
            <a:off x="822960" y="4160520"/>
            <a:ext cx="420624" cy="420624"/>
          </a:xfrm>
          <a:prstGeom prst="roundRect">
            <a:avLst>
              <a:gd name="adj" fmla="val 50000"/>
            </a:avLst>
          </a:prstGeom>
          <a:solidFill>
            <a:srgbClr val="0EA5B7"/>
          </a:solidFill>
          <a:ln w="12700">
            <a:solidFill>
              <a:srgbClr val="0EA5B7"/>
            </a:solidFill>
            <a:prstDash val="solid"/>
          </a:ln>
        </p:spPr>
      </p:sp>
      <p:sp>
        <p:nvSpPr>
          <p:cNvPr id="16" name="Text 14"/>
          <p:cNvSpPr txBox="1"/>
          <p:nvPr/>
        </p:nvSpPr>
        <p:spPr>
          <a:xfrm>
            <a:off x="822960" y="4160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22960" y="4709160"/>
            <a:ext cx="48006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Applied Problem-Solving</a:t>
            </a:r>
            <a:endParaRPr lang="en-US" sz="1500" dirty="0"/>
          </a:p>
        </p:txBody>
      </p:sp>
      <p:sp>
        <p:nvSpPr>
          <p:cNvPr id="18" name="Text 16"/>
          <p:cNvSpPr txBox="1"/>
          <p:nvPr/>
        </p:nvSpPr>
        <p:spPr>
          <a:xfrm>
            <a:off x="822960" y="5074920"/>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Ability to translate requirements into working, maintainable UI features.</a:t>
            </a:r>
            <a:endParaRPr lang="en-US" sz="1200" dirty="0"/>
          </a:p>
        </p:txBody>
      </p:sp>
      <p:sp>
        <p:nvSpPr>
          <p:cNvPr id="19" name="Shape 17"/>
          <p:cNvSpPr/>
          <p:nvPr/>
        </p:nvSpPr>
        <p:spPr>
          <a:xfrm>
            <a:off x="6263640" y="3886200"/>
            <a:ext cx="5349240" cy="2057400"/>
          </a:xfrm>
          <a:prstGeom prst="roundRect">
            <a:avLst>
              <a:gd name="adj" fmla="val 3556"/>
            </a:avLst>
          </a:prstGeom>
          <a:solidFill>
            <a:srgbClr val="FFFFFF"/>
          </a:solidFill>
          <a:ln w="12700">
            <a:solidFill>
              <a:srgbClr val="DCE3EC"/>
            </a:solidFill>
            <a:prstDash val="solid"/>
          </a:ln>
          <a:effectLst>
            <a:outerShdw sx="100000" sy="100000" kx="0" ky="0" algn="bl" rotWithShape="0" blurRad="88900" dist="25400" dir="5400000">
              <a:srgbClr val="8AA0BE">
                <a:alpha val="22000"/>
              </a:srgbClr>
            </a:outerShdw>
          </a:effectLst>
        </p:spPr>
      </p:sp>
      <p:sp>
        <p:nvSpPr>
          <p:cNvPr id="20" name="Shape 18"/>
          <p:cNvSpPr/>
          <p:nvPr/>
        </p:nvSpPr>
        <p:spPr>
          <a:xfrm>
            <a:off x="6537960" y="4160520"/>
            <a:ext cx="420624" cy="420624"/>
          </a:xfrm>
          <a:prstGeom prst="roundRect">
            <a:avLst>
              <a:gd name="adj" fmla="val 50000"/>
            </a:avLst>
          </a:prstGeom>
          <a:solidFill>
            <a:srgbClr val="0EA5B7"/>
          </a:solidFill>
          <a:ln w="12700">
            <a:solidFill>
              <a:srgbClr val="0EA5B7"/>
            </a:solidFill>
            <a:prstDash val="solid"/>
          </a:ln>
        </p:spPr>
      </p:sp>
      <p:sp>
        <p:nvSpPr>
          <p:cNvPr id="21" name="Text 19"/>
          <p:cNvSpPr txBox="1"/>
          <p:nvPr/>
        </p:nvSpPr>
        <p:spPr>
          <a:xfrm>
            <a:off x="6537960" y="4160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537960" y="4709160"/>
            <a:ext cx="48006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Career Readiness</a:t>
            </a:r>
            <a:endParaRPr lang="en-US" sz="1500" dirty="0"/>
          </a:p>
        </p:txBody>
      </p:sp>
      <p:sp>
        <p:nvSpPr>
          <p:cNvPr id="23" name="Text 21"/>
          <p:cNvSpPr txBox="1"/>
          <p:nvPr/>
        </p:nvSpPr>
        <p:spPr>
          <a:xfrm>
            <a:off x="6537960" y="5074920"/>
            <a:ext cx="4800600" cy="777240"/>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A stronger foundation for future front-end development roles.</a:t>
            </a:r>
            <a:endParaRPr lang="en-US" sz="1200" dirty="0"/>
          </a:p>
        </p:txBody>
      </p:sp>
      <p:sp>
        <p:nvSpPr>
          <p:cNvPr id="24" name="Text 22"/>
          <p:cNvSpPr txBox="1"/>
          <p:nvPr/>
        </p:nvSpPr>
        <p:spPr>
          <a:xfrm>
            <a:off x="548640" y="6510528"/>
            <a:ext cx="82296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Kumar Swatantra  •  2410030882  •  IILM University, Greater Noida</a:t>
            </a:r>
            <a:endParaRPr lang="en-US" sz="900" dirty="0"/>
          </a:p>
        </p:txBody>
      </p:sp>
      <p:sp>
        <p:nvSpPr>
          <p:cNvPr id="25" name="Text 23"/>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548640" y="548640"/>
            <a:ext cx="685800" cy="685800"/>
          </a:xfrm>
          <a:prstGeom prst="roundRect">
            <a:avLst>
              <a:gd name="adj" fmla="val 10667"/>
            </a:avLst>
          </a:prstGeom>
          <a:solidFill>
            <a:srgbClr val="FFFFFF"/>
          </a:solidFill>
          <a:ln w="12700">
            <a:solidFill>
              <a:srgbClr val="FFFFFF"/>
            </a:solidFill>
            <a:prstDash val="solid"/>
          </a:ln>
          <a:effectLst>
            <a:outerShdw sx="100000" sy="100000" kx="0" ky="0" algn="bl" rotWithShape="0" blurRad="76200" dist="25400" dir="5400000">
              <a:srgbClr val="000000">
                <a:alpha val="25000"/>
              </a:srgbClr>
            </a:outerShdw>
          </a:effectLst>
        </p:spPr>
      </p:sp>
      <p:pic>
        <p:nvPicPr>
          <p:cNvPr id="3" name="Image 0" descr="/home/claude/assets/iilm_logo.png">    </p:cNvPr>
          <p:cNvPicPr>
            <a:picLocks noChangeAspect="1"/>
          </p:cNvPicPr>
          <p:nvPr/>
        </p:nvPicPr>
        <p:blipFill>
          <a:blip r:embed="rId1"/>
          <a:stretch>
            <a:fillRect/>
          </a:stretch>
        </p:blipFill>
        <p:spPr>
          <a:xfrm>
            <a:off x="617220" y="617220"/>
            <a:ext cx="548640" cy="548640"/>
          </a:xfrm>
          <a:prstGeom prst="rect">
            <a:avLst/>
          </a:prstGeom>
        </p:spPr>
      </p:pic>
      <p:sp>
        <p:nvSpPr>
          <p:cNvPr id="4" name="Text 1"/>
          <p:cNvSpPr txBox="1"/>
          <p:nvPr/>
        </p:nvSpPr>
        <p:spPr>
          <a:xfrm>
            <a:off x="548640" y="1600200"/>
            <a:ext cx="7315200" cy="320040"/>
          </a:xfrm>
          <a:prstGeom prst="rect">
            <a:avLst/>
          </a:prstGeom>
          <a:noFill/>
          <a:ln/>
        </p:spPr>
        <p:txBody>
          <a:bodyPr wrap="square" lIns="0" tIns="0" rIns="0" bIns="0" rtlCol="0" anchor="ctr"/>
          <a:lstStyle/>
          <a:p>
            <a:pPr indent="0" marL="0">
              <a:buNone/>
            </a:pPr>
            <a:r>
              <a:rPr lang="en-US" sz="1300" b="1" spc="200" kern="0" dirty="0">
                <a:solidFill>
                  <a:srgbClr val="0EA5B7"/>
                </a:solidFill>
                <a:latin typeface="Calibri" pitchFamily="34" charset="0"/>
                <a:ea typeface="Calibri" pitchFamily="34" charset="-122"/>
                <a:cs typeface="Calibri" pitchFamily="34" charset="-120"/>
              </a:rPr>
              <a:t>CONCLUSION</a:t>
            </a:r>
            <a:endParaRPr lang="en-US" sz="1300" dirty="0"/>
          </a:p>
        </p:txBody>
      </p:sp>
      <p:sp>
        <p:nvSpPr>
          <p:cNvPr id="5" name="Text 2"/>
          <p:cNvSpPr txBox="1"/>
          <p:nvPr/>
        </p:nvSpPr>
        <p:spPr>
          <a:xfrm>
            <a:off x="548640" y="19202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strong first step into front-end engineering</a:t>
            </a:r>
            <a:endParaRPr lang="en-US" sz="3000" dirty="0"/>
          </a:p>
        </p:txBody>
      </p:sp>
      <p:sp>
        <p:nvSpPr>
          <p:cNvPr id="6" name="Text 3"/>
          <p:cNvSpPr txBox="1"/>
          <p:nvPr/>
        </p:nvSpPr>
        <p:spPr>
          <a:xfrm>
            <a:off x="548640" y="2788920"/>
            <a:ext cx="8961120" cy="1005840"/>
          </a:xfrm>
          <a:prstGeom prst="rect">
            <a:avLst/>
          </a:prstGeom>
          <a:noFill/>
          <a:ln/>
        </p:spPr>
        <p:txBody>
          <a:bodyPr wrap="square" lIns="0" tIns="0" rIns="0" bIns="0" rtlCol="0" anchor="ctr"/>
          <a:lstStyle/>
          <a:p>
            <a:pPr indent="0" marL="0">
              <a:lnSpc>
                <a:spcPct val="130000"/>
              </a:lnSpc>
              <a:buNone/>
            </a:pPr>
            <a:r>
              <a:rPr lang="en-US" sz="1500" dirty="0">
                <a:solidFill>
                  <a:srgbClr val="C9D6E8"/>
                </a:solidFill>
                <a:latin typeface="Calibri" pitchFamily="34" charset="0"/>
                <a:ea typeface="Calibri" pitchFamily="34" charset="-122"/>
                <a:cs typeface="Calibri" pitchFamily="34" charset="-120"/>
              </a:rPr>
              <a:t>The internship as a Junior ReactJS Developer at YuvaIntern gave practical, project-based exposure to modern front-end development — complementing the academic foundation built at IILM University’s School of Computer Science and Engineering.</a:t>
            </a:r>
            <a:endParaRPr lang="en-US" sz="1500" dirty="0"/>
          </a:p>
        </p:txBody>
      </p:sp>
      <p:sp>
        <p:nvSpPr>
          <p:cNvPr id="7" name="Shape 4"/>
          <p:cNvSpPr/>
          <p:nvPr/>
        </p:nvSpPr>
        <p:spPr>
          <a:xfrm>
            <a:off x="548640" y="4114800"/>
            <a:ext cx="2926080" cy="0"/>
          </a:xfrm>
          <a:prstGeom prst="line">
            <a:avLst/>
          </a:prstGeom>
          <a:noFill/>
          <a:ln w="25400">
            <a:solidFill>
              <a:srgbClr val="0EA5B7"/>
            </a:solidFill>
            <a:prstDash val="solid"/>
          </a:ln>
        </p:spPr>
      </p:sp>
      <p:sp>
        <p:nvSpPr>
          <p:cNvPr id="8" name="Text 5"/>
          <p:cNvSpPr txBox="1"/>
          <p:nvPr/>
        </p:nvSpPr>
        <p:spPr>
          <a:xfrm>
            <a:off x="548640" y="4343400"/>
            <a:ext cx="73152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9" name="Text 6"/>
          <p:cNvSpPr txBox="1"/>
          <p:nvPr/>
        </p:nvSpPr>
        <p:spPr>
          <a:xfrm>
            <a:off x="548640" y="4892040"/>
            <a:ext cx="9144000" cy="365760"/>
          </a:xfrm>
          <a:prstGeom prst="rect">
            <a:avLst/>
          </a:prstGeom>
          <a:noFill/>
          <a:ln/>
        </p:spPr>
        <p:txBody>
          <a:bodyPr wrap="square" lIns="0" tIns="0" rIns="0" bIns="0" rtlCol="0" anchor="ctr"/>
          <a:lstStyle/>
          <a:p>
            <a:pPr indent="0" marL="0">
              <a:buNone/>
            </a:pPr>
            <a:r>
              <a:rPr lang="en-US" sz="1300" dirty="0">
                <a:solidFill>
                  <a:srgbClr val="AAB8CC"/>
                </a:solidFill>
                <a:latin typeface="Calibri" pitchFamily="34" charset="0"/>
                <a:ea typeface="Calibri" pitchFamily="34" charset="-122"/>
                <a:cs typeface="Calibri" pitchFamily="34" charset="-120"/>
              </a:rPr>
              <a:t>Kumar Swatantra  |  Roll No. 2410030882  |  B.Tech CSE, Batch 2026–27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2026-09-27T13:48:14Z</dcterms:created>
  <dcterms:modified xsi:type="dcterms:W3CDTF">2026-09-27T13:48:14Z</dcterms:modified>
</cp:coreProperties>
</file>